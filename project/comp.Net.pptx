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73" r:id="rId10"/>
    <p:sldId id="274" r:id="rId11"/>
    <p:sldId id="275" r:id="rId12"/>
    <p:sldId id="276" r:id="rId13"/>
    <p:sldId id="277" r:id="rId14"/>
    <p:sldId id="269" r:id="rId15"/>
    <p:sldId id="270" r:id="rId16"/>
    <p:sldId id="271" r:id="rId17"/>
    <p:sldId id="272" r:id="rId18"/>
    <p:sldId id="264" r:id="rId19"/>
    <p:sldId id="265" r:id="rId20"/>
    <p:sldId id="267" r:id="rId21"/>
    <p:sldId id="266" r:id="rId22"/>
    <p:sldId id="26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75" d="100"/>
          <a:sy n="75" d="100"/>
        </p:scale>
        <p:origin x="974" y="3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FFC9C0-2B8F-4369-8C32-5DFFFEBA7946}" type="datetimeFigureOut">
              <a:rPr lang="en-US" smtClean="0"/>
              <a:t>1/12/2026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E18F6-E2BD-4D62-85A0-81822FB9B388}" type="slidenum">
              <a:rPr lang="en-US" smtClean="0"/>
              <a:t>‹#›</a:t>
            </a:fld>
            <a:endParaRPr lang="en-US"/>
          </a:p>
        </p:txBody>
      </p:sp>
    </p:spTree>
    <p:extLst>
      <p:ext uri="{BB962C8B-B14F-4D97-AF65-F5344CB8AC3E}">
        <p14:creationId xmlns:p14="http://schemas.microsoft.com/office/powerpoint/2010/main" val="43290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5EFE18F6-E2BD-4D62-85A0-81822FB9B388}" type="slidenum">
              <a:rPr lang="en-US" smtClean="0"/>
              <a:t>8</a:t>
            </a:fld>
            <a:endParaRPr lang="en-US"/>
          </a:p>
        </p:txBody>
      </p:sp>
    </p:spTree>
    <p:extLst>
      <p:ext uri="{BB962C8B-B14F-4D97-AF65-F5344CB8AC3E}">
        <p14:creationId xmlns:p14="http://schemas.microsoft.com/office/powerpoint/2010/main" val="2335330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D74BED-B6B2-5CE2-E022-243DBDD064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xmlns="" id="{EA4E053E-E6BD-2E01-8C1A-DF3638898F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xmlns="" id="{149F441F-6E92-AD9E-8150-FBCAE9148A99}"/>
              </a:ext>
            </a:extLst>
          </p:cNvPr>
          <p:cNvSpPr>
            <a:spLocks noGrp="1"/>
          </p:cNvSpPr>
          <p:nvPr>
            <p:ph type="dt" sz="half" idx="10"/>
          </p:nvPr>
        </p:nvSpPr>
        <p:spPr/>
        <p:txBody>
          <a:bodyPr/>
          <a:lstStyle/>
          <a:p>
            <a:fld id="{C2D9E073-3679-4C52-9104-7B204BE6B02C}" type="datetimeFigureOut">
              <a:rPr lang="en-GB" smtClean="0"/>
              <a:t>12/01/2026</a:t>
            </a:fld>
            <a:endParaRPr lang="en-GB"/>
          </a:p>
        </p:txBody>
      </p:sp>
      <p:sp>
        <p:nvSpPr>
          <p:cNvPr id="5" name="Footer Placeholder 4">
            <a:extLst>
              <a:ext uri="{FF2B5EF4-FFF2-40B4-BE49-F238E27FC236}">
                <a16:creationId xmlns:a16="http://schemas.microsoft.com/office/drawing/2014/main" xmlns="" id="{7552FC8B-6D12-970F-04AE-B8C668C58AF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5ED4B541-15B8-AE88-04E1-C483E03FB510}"/>
              </a:ext>
            </a:extLst>
          </p:cNvPr>
          <p:cNvSpPr>
            <a:spLocks noGrp="1"/>
          </p:cNvSpPr>
          <p:nvPr>
            <p:ph type="sldNum" sz="quarter" idx="12"/>
          </p:nvPr>
        </p:nvSpPr>
        <p:spPr/>
        <p:txBody>
          <a:bodyPr/>
          <a:lstStyle/>
          <a:p>
            <a:fld id="{1C84CC38-86F2-4435-A8AA-CCA6CB18EB4A}" type="slidenum">
              <a:rPr lang="en-GB" smtClean="0"/>
              <a:t>‹#›</a:t>
            </a:fld>
            <a:endParaRPr lang="en-GB"/>
          </a:p>
        </p:txBody>
      </p:sp>
    </p:spTree>
    <p:extLst>
      <p:ext uri="{BB962C8B-B14F-4D97-AF65-F5344CB8AC3E}">
        <p14:creationId xmlns:p14="http://schemas.microsoft.com/office/powerpoint/2010/main" val="2364571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220B08-05B2-678B-36FD-4F063506DBC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6C3DE08D-21C0-131F-A1E1-39B925C1AA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2E673759-B309-797B-7830-DFCA7ECD4189}"/>
              </a:ext>
            </a:extLst>
          </p:cNvPr>
          <p:cNvSpPr>
            <a:spLocks noGrp="1"/>
          </p:cNvSpPr>
          <p:nvPr>
            <p:ph type="dt" sz="half" idx="10"/>
          </p:nvPr>
        </p:nvSpPr>
        <p:spPr/>
        <p:txBody>
          <a:bodyPr/>
          <a:lstStyle/>
          <a:p>
            <a:fld id="{C2D9E073-3679-4C52-9104-7B204BE6B02C}" type="datetimeFigureOut">
              <a:rPr lang="en-GB" smtClean="0"/>
              <a:t>12/01/2026</a:t>
            </a:fld>
            <a:endParaRPr lang="en-GB"/>
          </a:p>
        </p:txBody>
      </p:sp>
      <p:sp>
        <p:nvSpPr>
          <p:cNvPr id="5" name="Footer Placeholder 4">
            <a:extLst>
              <a:ext uri="{FF2B5EF4-FFF2-40B4-BE49-F238E27FC236}">
                <a16:creationId xmlns:a16="http://schemas.microsoft.com/office/drawing/2014/main" xmlns="" id="{D459970F-10C0-63D1-5AE6-7147C8FD8C1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D73208E1-22AE-DAF4-18A1-E886170C828F}"/>
              </a:ext>
            </a:extLst>
          </p:cNvPr>
          <p:cNvSpPr>
            <a:spLocks noGrp="1"/>
          </p:cNvSpPr>
          <p:nvPr>
            <p:ph type="sldNum" sz="quarter" idx="12"/>
          </p:nvPr>
        </p:nvSpPr>
        <p:spPr/>
        <p:txBody>
          <a:bodyPr/>
          <a:lstStyle/>
          <a:p>
            <a:fld id="{1C84CC38-86F2-4435-A8AA-CCA6CB18EB4A}" type="slidenum">
              <a:rPr lang="en-GB" smtClean="0"/>
              <a:t>‹#›</a:t>
            </a:fld>
            <a:endParaRPr lang="en-GB"/>
          </a:p>
        </p:txBody>
      </p:sp>
    </p:spTree>
    <p:extLst>
      <p:ext uri="{BB962C8B-B14F-4D97-AF65-F5344CB8AC3E}">
        <p14:creationId xmlns:p14="http://schemas.microsoft.com/office/powerpoint/2010/main" val="2889882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31C33B1-B7C3-C88D-8C1F-F6E0751E8D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xmlns="" id="{93ADF0D7-8DD0-C620-8EEF-CB15A4FC46B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257C54B0-4AB4-E686-993B-DA5DF044E01D}"/>
              </a:ext>
            </a:extLst>
          </p:cNvPr>
          <p:cNvSpPr>
            <a:spLocks noGrp="1"/>
          </p:cNvSpPr>
          <p:nvPr>
            <p:ph type="dt" sz="half" idx="10"/>
          </p:nvPr>
        </p:nvSpPr>
        <p:spPr/>
        <p:txBody>
          <a:bodyPr/>
          <a:lstStyle/>
          <a:p>
            <a:fld id="{C2D9E073-3679-4C52-9104-7B204BE6B02C}" type="datetimeFigureOut">
              <a:rPr lang="en-GB" smtClean="0"/>
              <a:t>12/01/2026</a:t>
            </a:fld>
            <a:endParaRPr lang="en-GB"/>
          </a:p>
        </p:txBody>
      </p:sp>
      <p:sp>
        <p:nvSpPr>
          <p:cNvPr id="5" name="Footer Placeholder 4">
            <a:extLst>
              <a:ext uri="{FF2B5EF4-FFF2-40B4-BE49-F238E27FC236}">
                <a16:creationId xmlns:a16="http://schemas.microsoft.com/office/drawing/2014/main" xmlns="" id="{D85A1904-E740-7ADD-2555-97AEB496D7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4DA55455-DAF1-9F23-E24D-FA7E30C1499D}"/>
              </a:ext>
            </a:extLst>
          </p:cNvPr>
          <p:cNvSpPr>
            <a:spLocks noGrp="1"/>
          </p:cNvSpPr>
          <p:nvPr>
            <p:ph type="sldNum" sz="quarter" idx="12"/>
          </p:nvPr>
        </p:nvSpPr>
        <p:spPr/>
        <p:txBody>
          <a:bodyPr/>
          <a:lstStyle/>
          <a:p>
            <a:fld id="{1C84CC38-86F2-4435-A8AA-CCA6CB18EB4A}" type="slidenum">
              <a:rPr lang="en-GB" smtClean="0"/>
              <a:t>‹#›</a:t>
            </a:fld>
            <a:endParaRPr lang="en-GB"/>
          </a:p>
        </p:txBody>
      </p:sp>
    </p:spTree>
    <p:extLst>
      <p:ext uri="{BB962C8B-B14F-4D97-AF65-F5344CB8AC3E}">
        <p14:creationId xmlns:p14="http://schemas.microsoft.com/office/powerpoint/2010/main" val="1057433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17E2AF-6764-010F-944D-C3545C0D2E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18C1176C-0017-D910-4E0E-A997C313E7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xmlns="" id="{2800D50B-1A55-C5CC-105F-83548FAB45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xmlns="" id="{01400D92-1FAC-51EB-CB02-8A8E35CA36DC}"/>
              </a:ext>
            </a:extLst>
          </p:cNvPr>
          <p:cNvSpPr>
            <a:spLocks noGrp="1"/>
          </p:cNvSpPr>
          <p:nvPr>
            <p:ph type="dt" sz="half" idx="10"/>
          </p:nvPr>
        </p:nvSpPr>
        <p:spPr/>
        <p:txBody>
          <a:bodyPr/>
          <a:lstStyle/>
          <a:p>
            <a:fld id="{C2D9E073-3679-4C52-9104-7B204BE6B02C}" type="datetimeFigureOut">
              <a:rPr lang="en-GB" smtClean="0"/>
              <a:t>12/01/2026</a:t>
            </a:fld>
            <a:endParaRPr lang="en-GB"/>
          </a:p>
        </p:txBody>
      </p:sp>
      <p:sp>
        <p:nvSpPr>
          <p:cNvPr id="6" name="Footer Placeholder 5">
            <a:extLst>
              <a:ext uri="{FF2B5EF4-FFF2-40B4-BE49-F238E27FC236}">
                <a16:creationId xmlns:a16="http://schemas.microsoft.com/office/drawing/2014/main" xmlns="" id="{81968A2E-9589-1B51-3FD3-4DB67E2B599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7FBCFCA8-381E-F0EF-21E5-5C02FAC2A55E}"/>
              </a:ext>
            </a:extLst>
          </p:cNvPr>
          <p:cNvSpPr>
            <a:spLocks noGrp="1"/>
          </p:cNvSpPr>
          <p:nvPr>
            <p:ph type="sldNum" sz="quarter" idx="12"/>
          </p:nvPr>
        </p:nvSpPr>
        <p:spPr/>
        <p:txBody>
          <a:bodyPr/>
          <a:lstStyle/>
          <a:p>
            <a:fld id="{1C84CC38-86F2-4435-A8AA-CCA6CB18EB4A}" type="slidenum">
              <a:rPr lang="en-GB" smtClean="0"/>
              <a:t>‹#›</a:t>
            </a:fld>
            <a:endParaRPr lang="en-GB"/>
          </a:p>
        </p:txBody>
      </p:sp>
    </p:spTree>
    <p:extLst>
      <p:ext uri="{BB962C8B-B14F-4D97-AF65-F5344CB8AC3E}">
        <p14:creationId xmlns:p14="http://schemas.microsoft.com/office/powerpoint/2010/main" val="1466919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B20975-B5BC-B5C3-FC82-3EDB67A0B31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12ACE741-629F-8784-9C49-72461C515D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9101838D-74F9-FA1E-0BB1-2F8CF846F0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xmlns="" id="{4AC1210C-776F-ED01-7236-54ED60CF8A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6588A50-2652-CE52-4A5C-B70DDEA077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xmlns="" id="{DF2C8960-1844-F2FC-FE56-1FC9D2F98648}"/>
              </a:ext>
            </a:extLst>
          </p:cNvPr>
          <p:cNvSpPr>
            <a:spLocks noGrp="1"/>
          </p:cNvSpPr>
          <p:nvPr>
            <p:ph type="dt" sz="half" idx="10"/>
          </p:nvPr>
        </p:nvSpPr>
        <p:spPr/>
        <p:txBody>
          <a:bodyPr/>
          <a:lstStyle/>
          <a:p>
            <a:fld id="{C2D9E073-3679-4C52-9104-7B204BE6B02C}" type="datetimeFigureOut">
              <a:rPr lang="en-GB" smtClean="0"/>
              <a:t>12/01/2026</a:t>
            </a:fld>
            <a:endParaRPr lang="en-GB"/>
          </a:p>
        </p:txBody>
      </p:sp>
      <p:sp>
        <p:nvSpPr>
          <p:cNvPr id="8" name="Footer Placeholder 7">
            <a:extLst>
              <a:ext uri="{FF2B5EF4-FFF2-40B4-BE49-F238E27FC236}">
                <a16:creationId xmlns:a16="http://schemas.microsoft.com/office/drawing/2014/main" xmlns="" id="{AF333C99-5F9A-BAD5-36F0-35C5491C909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xmlns="" id="{3EA27C80-8E00-56E0-12D4-49368A4ACA72}"/>
              </a:ext>
            </a:extLst>
          </p:cNvPr>
          <p:cNvSpPr>
            <a:spLocks noGrp="1"/>
          </p:cNvSpPr>
          <p:nvPr>
            <p:ph type="sldNum" sz="quarter" idx="12"/>
          </p:nvPr>
        </p:nvSpPr>
        <p:spPr/>
        <p:txBody>
          <a:bodyPr/>
          <a:lstStyle/>
          <a:p>
            <a:fld id="{1C84CC38-86F2-4435-A8AA-CCA6CB18EB4A}" type="slidenum">
              <a:rPr lang="en-GB" smtClean="0"/>
              <a:t>‹#›</a:t>
            </a:fld>
            <a:endParaRPr lang="en-GB"/>
          </a:p>
        </p:txBody>
      </p:sp>
    </p:spTree>
    <p:extLst>
      <p:ext uri="{BB962C8B-B14F-4D97-AF65-F5344CB8AC3E}">
        <p14:creationId xmlns:p14="http://schemas.microsoft.com/office/powerpoint/2010/main" val="2431895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EDF771-A4D2-D4EE-0DAA-C1F99F2BC63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xmlns="" id="{AF765847-0AC1-9074-49F8-688E183EF1CF}"/>
              </a:ext>
            </a:extLst>
          </p:cNvPr>
          <p:cNvSpPr>
            <a:spLocks noGrp="1"/>
          </p:cNvSpPr>
          <p:nvPr>
            <p:ph type="dt" sz="half" idx="10"/>
          </p:nvPr>
        </p:nvSpPr>
        <p:spPr/>
        <p:txBody>
          <a:bodyPr/>
          <a:lstStyle/>
          <a:p>
            <a:fld id="{C2D9E073-3679-4C52-9104-7B204BE6B02C}" type="datetimeFigureOut">
              <a:rPr lang="en-GB" smtClean="0"/>
              <a:t>12/01/2026</a:t>
            </a:fld>
            <a:endParaRPr lang="en-GB"/>
          </a:p>
        </p:txBody>
      </p:sp>
      <p:sp>
        <p:nvSpPr>
          <p:cNvPr id="4" name="Footer Placeholder 3">
            <a:extLst>
              <a:ext uri="{FF2B5EF4-FFF2-40B4-BE49-F238E27FC236}">
                <a16:creationId xmlns:a16="http://schemas.microsoft.com/office/drawing/2014/main" xmlns="" id="{6FB3080C-CB15-CCF1-1011-4C031433E7C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xmlns="" id="{01134380-45EB-2255-774F-A5D31F006938}"/>
              </a:ext>
            </a:extLst>
          </p:cNvPr>
          <p:cNvSpPr>
            <a:spLocks noGrp="1"/>
          </p:cNvSpPr>
          <p:nvPr>
            <p:ph type="sldNum" sz="quarter" idx="12"/>
          </p:nvPr>
        </p:nvSpPr>
        <p:spPr/>
        <p:txBody>
          <a:bodyPr/>
          <a:lstStyle/>
          <a:p>
            <a:fld id="{1C84CC38-86F2-4435-A8AA-CCA6CB18EB4A}" type="slidenum">
              <a:rPr lang="en-GB" smtClean="0"/>
              <a:t>‹#›</a:t>
            </a:fld>
            <a:endParaRPr lang="en-GB"/>
          </a:p>
        </p:txBody>
      </p:sp>
    </p:spTree>
    <p:extLst>
      <p:ext uri="{BB962C8B-B14F-4D97-AF65-F5344CB8AC3E}">
        <p14:creationId xmlns:p14="http://schemas.microsoft.com/office/powerpoint/2010/main" val="3273840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040EEBCF-DB85-98BA-9FF7-C1F74BEE358B}"/>
              </a:ext>
            </a:extLst>
          </p:cNvPr>
          <p:cNvSpPr>
            <a:spLocks noGrp="1"/>
          </p:cNvSpPr>
          <p:nvPr>
            <p:ph type="dt" sz="half" idx="10"/>
          </p:nvPr>
        </p:nvSpPr>
        <p:spPr/>
        <p:txBody>
          <a:bodyPr/>
          <a:lstStyle/>
          <a:p>
            <a:fld id="{C2D9E073-3679-4C52-9104-7B204BE6B02C}" type="datetimeFigureOut">
              <a:rPr lang="en-GB" smtClean="0"/>
              <a:t>12/01/2026</a:t>
            </a:fld>
            <a:endParaRPr lang="en-GB"/>
          </a:p>
        </p:txBody>
      </p:sp>
      <p:sp>
        <p:nvSpPr>
          <p:cNvPr id="3" name="Footer Placeholder 2">
            <a:extLst>
              <a:ext uri="{FF2B5EF4-FFF2-40B4-BE49-F238E27FC236}">
                <a16:creationId xmlns:a16="http://schemas.microsoft.com/office/drawing/2014/main" xmlns="" id="{1CE8FF5E-277D-E4F5-3848-1FBBB751853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xmlns="" id="{A684F6CD-8B0C-AC7E-6B08-8F0F47E6C6DB}"/>
              </a:ext>
            </a:extLst>
          </p:cNvPr>
          <p:cNvSpPr>
            <a:spLocks noGrp="1"/>
          </p:cNvSpPr>
          <p:nvPr>
            <p:ph type="sldNum" sz="quarter" idx="12"/>
          </p:nvPr>
        </p:nvSpPr>
        <p:spPr/>
        <p:txBody>
          <a:bodyPr/>
          <a:lstStyle/>
          <a:p>
            <a:fld id="{1C84CC38-86F2-4435-A8AA-CCA6CB18EB4A}" type="slidenum">
              <a:rPr lang="en-GB" smtClean="0"/>
              <a:t>‹#›</a:t>
            </a:fld>
            <a:endParaRPr lang="en-GB"/>
          </a:p>
        </p:txBody>
      </p:sp>
    </p:spTree>
    <p:extLst>
      <p:ext uri="{BB962C8B-B14F-4D97-AF65-F5344CB8AC3E}">
        <p14:creationId xmlns:p14="http://schemas.microsoft.com/office/powerpoint/2010/main" val="1899228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DA50998-0D8F-A662-7702-515521ECDC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CFA45019-A398-1EEF-6E22-2D69FB33E7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xmlns="" id="{B5082E54-BA7B-3DF8-AE89-5F021F54CF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78D09354-A138-7FAC-E5D5-7463E2792B8C}"/>
              </a:ext>
            </a:extLst>
          </p:cNvPr>
          <p:cNvSpPr>
            <a:spLocks noGrp="1"/>
          </p:cNvSpPr>
          <p:nvPr>
            <p:ph type="dt" sz="half" idx="10"/>
          </p:nvPr>
        </p:nvSpPr>
        <p:spPr/>
        <p:txBody>
          <a:bodyPr/>
          <a:lstStyle/>
          <a:p>
            <a:fld id="{C2D9E073-3679-4C52-9104-7B204BE6B02C}" type="datetimeFigureOut">
              <a:rPr lang="en-GB" smtClean="0"/>
              <a:t>12/01/2026</a:t>
            </a:fld>
            <a:endParaRPr lang="en-GB"/>
          </a:p>
        </p:txBody>
      </p:sp>
      <p:sp>
        <p:nvSpPr>
          <p:cNvPr id="6" name="Footer Placeholder 5">
            <a:extLst>
              <a:ext uri="{FF2B5EF4-FFF2-40B4-BE49-F238E27FC236}">
                <a16:creationId xmlns:a16="http://schemas.microsoft.com/office/drawing/2014/main" xmlns="" id="{2A03E5FE-592A-20A1-4918-51CECA148DB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171DDF2E-DE83-F5B2-C42E-694A7FF03F95}"/>
              </a:ext>
            </a:extLst>
          </p:cNvPr>
          <p:cNvSpPr>
            <a:spLocks noGrp="1"/>
          </p:cNvSpPr>
          <p:nvPr>
            <p:ph type="sldNum" sz="quarter" idx="12"/>
          </p:nvPr>
        </p:nvSpPr>
        <p:spPr/>
        <p:txBody>
          <a:bodyPr/>
          <a:lstStyle/>
          <a:p>
            <a:fld id="{1C84CC38-86F2-4435-A8AA-CCA6CB18EB4A}" type="slidenum">
              <a:rPr lang="en-GB" smtClean="0"/>
              <a:t>‹#›</a:t>
            </a:fld>
            <a:endParaRPr lang="en-GB"/>
          </a:p>
        </p:txBody>
      </p:sp>
    </p:spTree>
    <p:extLst>
      <p:ext uri="{BB962C8B-B14F-4D97-AF65-F5344CB8AC3E}">
        <p14:creationId xmlns:p14="http://schemas.microsoft.com/office/powerpoint/2010/main" val="2579042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2551F2-53EE-B61C-7D6B-9FC8DB31A6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xmlns="" id="{2218B286-3DC0-A64F-E86F-FB62230CA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xmlns="" id="{CC7308A6-14B6-9409-427E-B1601C0A7F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A91388D-6ECA-E86B-F900-CDCC6F3E2013}"/>
              </a:ext>
            </a:extLst>
          </p:cNvPr>
          <p:cNvSpPr>
            <a:spLocks noGrp="1"/>
          </p:cNvSpPr>
          <p:nvPr>
            <p:ph type="dt" sz="half" idx="10"/>
          </p:nvPr>
        </p:nvSpPr>
        <p:spPr/>
        <p:txBody>
          <a:bodyPr/>
          <a:lstStyle/>
          <a:p>
            <a:fld id="{C2D9E073-3679-4C52-9104-7B204BE6B02C}" type="datetimeFigureOut">
              <a:rPr lang="en-GB" smtClean="0"/>
              <a:t>12/01/2026</a:t>
            </a:fld>
            <a:endParaRPr lang="en-GB"/>
          </a:p>
        </p:txBody>
      </p:sp>
      <p:sp>
        <p:nvSpPr>
          <p:cNvPr id="6" name="Footer Placeholder 5">
            <a:extLst>
              <a:ext uri="{FF2B5EF4-FFF2-40B4-BE49-F238E27FC236}">
                <a16:creationId xmlns:a16="http://schemas.microsoft.com/office/drawing/2014/main" xmlns="" id="{D0509B03-E6F5-2A85-0533-4B4EB649CBC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03159EAD-86C0-9F02-8085-99D70E33C732}"/>
              </a:ext>
            </a:extLst>
          </p:cNvPr>
          <p:cNvSpPr>
            <a:spLocks noGrp="1"/>
          </p:cNvSpPr>
          <p:nvPr>
            <p:ph type="sldNum" sz="quarter" idx="12"/>
          </p:nvPr>
        </p:nvSpPr>
        <p:spPr/>
        <p:txBody>
          <a:bodyPr/>
          <a:lstStyle/>
          <a:p>
            <a:fld id="{1C84CC38-86F2-4435-A8AA-CCA6CB18EB4A}" type="slidenum">
              <a:rPr lang="en-GB" smtClean="0"/>
              <a:t>‹#›</a:t>
            </a:fld>
            <a:endParaRPr lang="en-GB"/>
          </a:p>
        </p:txBody>
      </p:sp>
    </p:spTree>
    <p:extLst>
      <p:ext uri="{BB962C8B-B14F-4D97-AF65-F5344CB8AC3E}">
        <p14:creationId xmlns:p14="http://schemas.microsoft.com/office/powerpoint/2010/main" val="27821986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91A2CE-93C8-F8E5-6633-42A865148EB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09322B5E-A605-897A-B49F-9D0E3B534C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816B6223-E093-F026-C750-83F227737C96}"/>
              </a:ext>
            </a:extLst>
          </p:cNvPr>
          <p:cNvSpPr>
            <a:spLocks noGrp="1"/>
          </p:cNvSpPr>
          <p:nvPr>
            <p:ph type="dt" sz="half" idx="10"/>
          </p:nvPr>
        </p:nvSpPr>
        <p:spPr/>
        <p:txBody>
          <a:bodyPr/>
          <a:lstStyle/>
          <a:p>
            <a:fld id="{C2D9E073-3679-4C52-9104-7B204BE6B02C}" type="datetimeFigureOut">
              <a:rPr lang="en-GB" smtClean="0"/>
              <a:t>12/01/2026</a:t>
            </a:fld>
            <a:endParaRPr lang="en-GB"/>
          </a:p>
        </p:txBody>
      </p:sp>
      <p:sp>
        <p:nvSpPr>
          <p:cNvPr id="5" name="Footer Placeholder 4">
            <a:extLst>
              <a:ext uri="{FF2B5EF4-FFF2-40B4-BE49-F238E27FC236}">
                <a16:creationId xmlns:a16="http://schemas.microsoft.com/office/drawing/2014/main" xmlns="" id="{DCB10EA6-7EB8-34E4-D82A-DC5E3BB06D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310B57D4-76D0-7ECB-17BB-57B5FDE340BE}"/>
              </a:ext>
            </a:extLst>
          </p:cNvPr>
          <p:cNvSpPr>
            <a:spLocks noGrp="1"/>
          </p:cNvSpPr>
          <p:nvPr>
            <p:ph type="sldNum" sz="quarter" idx="12"/>
          </p:nvPr>
        </p:nvSpPr>
        <p:spPr/>
        <p:txBody>
          <a:bodyPr/>
          <a:lstStyle/>
          <a:p>
            <a:fld id="{1C84CC38-86F2-4435-A8AA-CCA6CB18EB4A}" type="slidenum">
              <a:rPr lang="en-GB" smtClean="0"/>
              <a:t>‹#›</a:t>
            </a:fld>
            <a:endParaRPr lang="en-GB"/>
          </a:p>
        </p:txBody>
      </p:sp>
    </p:spTree>
    <p:extLst>
      <p:ext uri="{BB962C8B-B14F-4D97-AF65-F5344CB8AC3E}">
        <p14:creationId xmlns:p14="http://schemas.microsoft.com/office/powerpoint/2010/main" val="4500338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BE834B66-16AE-5749-B5DA-A4E2666A606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CC2727A0-20CB-FA55-415C-E99C89D1BD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68987EF6-4A95-82D3-F3D0-1CB7B5664AC6}"/>
              </a:ext>
            </a:extLst>
          </p:cNvPr>
          <p:cNvSpPr>
            <a:spLocks noGrp="1"/>
          </p:cNvSpPr>
          <p:nvPr>
            <p:ph type="dt" sz="half" idx="10"/>
          </p:nvPr>
        </p:nvSpPr>
        <p:spPr/>
        <p:txBody>
          <a:bodyPr/>
          <a:lstStyle/>
          <a:p>
            <a:fld id="{C2D9E073-3679-4C52-9104-7B204BE6B02C}" type="datetimeFigureOut">
              <a:rPr lang="en-GB" smtClean="0"/>
              <a:t>12/01/2026</a:t>
            </a:fld>
            <a:endParaRPr lang="en-GB"/>
          </a:p>
        </p:txBody>
      </p:sp>
      <p:sp>
        <p:nvSpPr>
          <p:cNvPr id="5" name="Footer Placeholder 4">
            <a:extLst>
              <a:ext uri="{FF2B5EF4-FFF2-40B4-BE49-F238E27FC236}">
                <a16:creationId xmlns:a16="http://schemas.microsoft.com/office/drawing/2014/main" xmlns="" id="{AF42D9C2-E0AD-C4C8-065B-6CCE29F3A91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D342DF7D-DFBC-A296-54EF-F14361B4545E}"/>
              </a:ext>
            </a:extLst>
          </p:cNvPr>
          <p:cNvSpPr>
            <a:spLocks noGrp="1"/>
          </p:cNvSpPr>
          <p:nvPr>
            <p:ph type="sldNum" sz="quarter" idx="12"/>
          </p:nvPr>
        </p:nvSpPr>
        <p:spPr/>
        <p:txBody>
          <a:bodyPr/>
          <a:lstStyle/>
          <a:p>
            <a:fld id="{1C84CC38-86F2-4435-A8AA-CCA6CB18EB4A}" type="slidenum">
              <a:rPr lang="en-GB" smtClean="0"/>
              <a:t>‹#›</a:t>
            </a:fld>
            <a:endParaRPr lang="en-GB"/>
          </a:p>
        </p:txBody>
      </p:sp>
    </p:spTree>
    <p:extLst>
      <p:ext uri="{BB962C8B-B14F-4D97-AF65-F5344CB8AC3E}">
        <p14:creationId xmlns:p14="http://schemas.microsoft.com/office/powerpoint/2010/main" val="4286666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F344C10-B066-28B9-6AE3-7CA99DB6F9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242B9EFC-1539-B23F-2690-CF7ECB96E3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E4F38DBE-8111-2B46-0673-046A1CD2E9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D9E073-3679-4C52-9104-7B204BE6B02C}" type="datetimeFigureOut">
              <a:rPr lang="en-GB" smtClean="0"/>
              <a:t>12/01/2026</a:t>
            </a:fld>
            <a:endParaRPr lang="en-GB"/>
          </a:p>
        </p:txBody>
      </p:sp>
      <p:sp>
        <p:nvSpPr>
          <p:cNvPr id="5" name="Footer Placeholder 4">
            <a:extLst>
              <a:ext uri="{FF2B5EF4-FFF2-40B4-BE49-F238E27FC236}">
                <a16:creationId xmlns:a16="http://schemas.microsoft.com/office/drawing/2014/main" xmlns="" id="{BC2D3089-3759-326E-E0A8-4E42C6A792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xmlns="" id="{FAF8059F-BE06-0055-5514-B41F0237F3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84CC38-86F2-4435-A8AA-CCA6CB18EB4A}" type="slidenum">
              <a:rPr lang="en-GB" smtClean="0"/>
              <a:t>‹#›</a:t>
            </a:fld>
            <a:endParaRPr lang="en-GB"/>
          </a:p>
        </p:txBody>
      </p:sp>
    </p:spTree>
    <p:extLst>
      <p:ext uri="{BB962C8B-B14F-4D97-AF65-F5344CB8AC3E}">
        <p14:creationId xmlns:p14="http://schemas.microsoft.com/office/powerpoint/2010/main" val="3102412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97346D1-A080-671D-90C8-8917D7F52941}"/>
              </a:ext>
            </a:extLst>
          </p:cNvPr>
          <p:cNvSpPr>
            <a:spLocks noGrp="1"/>
          </p:cNvSpPr>
          <p:nvPr>
            <p:ph type="ctrTitle"/>
          </p:nvPr>
        </p:nvSpPr>
        <p:spPr/>
        <p:txBody>
          <a:bodyPr/>
          <a:lstStyle/>
          <a:p>
            <a:r>
              <a:rPr lang="en-US" dirty="0"/>
              <a:t>WIRELESS TECHNOLOGY EVOLUTION</a:t>
            </a:r>
            <a:endParaRPr lang="en-GB" dirty="0"/>
          </a:p>
        </p:txBody>
      </p:sp>
      <p:sp>
        <p:nvSpPr>
          <p:cNvPr id="3" name="Subtitle 2">
            <a:extLst>
              <a:ext uri="{FF2B5EF4-FFF2-40B4-BE49-F238E27FC236}">
                <a16:creationId xmlns:a16="http://schemas.microsoft.com/office/drawing/2014/main" xmlns="" id="{5E5E1C68-7633-CFF7-40C3-C44478669762}"/>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952227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6B8022E-296B-4956-6B9A-50E72CA0B6DB}"/>
              </a:ext>
            </a:extLst>
          </p:cNvPr>
          <p:cNvSpPr>
            <a:spLocks noGrp="1"/>
          </p:cNvSpPr>
          <p:nvPr>
            <p:ph type="title"/>
          </p:nvPr>
        </p:nvSpPr>
        <p:spPr/>
        <p:txBody>
          <a:bodyPr/>
          <a:lstStyle/>
          <a:p>
            <a:r>
              <a:rPr lang="en-US" dirty="0"/>
              <a:t>Introduction</a:t>
            </a:r>
            <a:endParaRPr lang="en-GB" dirty="0"/>
          </a:p>
        </p:txBody>
      </p:sp>
      <p:sp>
        <p:nvSpPr>
          <p:cNvPr id="3" name="Content Placeholder 2">
            <a:extLst>
              <a:ext uri="{FF2B5EF4-FFF2-40B4-BE49-F238E27FC236}">
                <a16:creationId xmlns:a16="http://schemas.microsoft.com/office/drawing/2014/main" xmlns="" id="{F03B08EE-2259-83B5-C434-93972101B896}"/>
              </a:ext>
            </a:extLst>
          </p:cNvPr>
          <p:cNvSpPr>
            <a:spLocks noGrp="1"/>
          </p:cNvSpPr>
          <p:nvPr>
            <p:ph idx="1"/>
          </p:nvPr>
        </p:nvSpPr>
        <p:spPr/>
        <p:txBody>
          <a:bodyPr/>
          <a:lstStyle/>
          <a:p>
            <a:r>
              <a:rPr lang="en-US" dirty="0"/>
              <a:t>Mobile generations evolve every 10 years.</a:t>
            </a:r>
          </a:p>
          <a:p>
            <a:r>
              <a:rPr lang="en-US" dirty="0"/>
              <a:t>Each generation (G) represents a change in the fundamental nature of signal, the speed of data , and the types of services available to the public.</a:t>
            </a:r>
          </a:p>
          <a:p>
            <a:r>
              <a:rPr lang="en-US" dirty="0"/>
              <a:t>Mobile generations enable faster, more capable wireless connectivity for communication, data ,and emerging tech.</a:t>
            </a:r>
            <a:endParaRPr lang="en-GB" dirty="0"/>
          </a:p>
        </p:txBody>
      </p:sp>
    </p:spTree>
    <p:extLst>
      <p:ext uri="{BB962C8B-B14F-4D97-AF65-F5344CB8AC3E}">
        <p14:creationId xmlns:p14="http://schemas.microsoft.com/office/powerpoint/2010/main" val="1394075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79BF91-278B-0ED0-0DD3-C58345ECE28F}"/>
              </a:ext>
            </a:extLst>
          </p:cNvPr>
          <p:cNvSpPr>
            <a:spLocks noGrp="1"/>
          </p:cNvSpPr>
          <p:nvPr>
            <p:ph type="title"/>
          </p:nvPr>
        </p:nvSpPr>
        <p:spPr/>
        <p:txBody>
          <a:bodyPr/>
          <a:lstStyle/>
          <a:p>
            <a:r>
              <a:rPr lang="en-US" dirty="0"/>
              <a:t>1G- The Analog Voice Era (1980s)</a:t>
            </a:r>
            <a:endParaRPr lang="en-GB" dirty="0"/>
          </a:p>
        </p:txBody>
      </p:sp>
      <p:sp>
        <p:nvSpPr>
          <p:cNvPr id="3" name="Content Placeholder 2">
            <a:extLst>
              <a:ext uri="{FF2B5EF4-FFF2-40B4-BE49-F238E27FC236}">
                <a16:creationId xmlns:a16="http://schemas.microsoft.com/office/drawing/2014/main" xmlns="" id="{F3FAC210-5C56-0000-9A5C-86338AD8F7B0}"/>
              </a:ext>
            </a:extLst>
          </p:cNvPr>
          <p:cNvSpPr>
            <a:spLocks noGrp="1"/>
          </p:cNvSpPr>
          <p:nvPr>
            <p:ph idx="1"/>
          </p:nvPr>
        </p:nvSpPr>
        <p:spPr/>
        <p:txBody>
          <a:bodyPr>
            <a:normAutofit fontScale="92500" lnSpcReduction="10000"/>
          </a:bodyPr>
          <a:lstStyle/>
          <a:p>
            <a:r>
              <a:rPr lang="en-US" dirty="0"/>
              <a:t>T</a:t>
            </a:r>
            <a:r>
              <a:rPr lang="en-GB" dirty="0"/>
              <a:t>he 1980s marked the birth of mobile telecommunication.</a:t>
            </a:r>
          </a:p>
          <a:p>
            <a:r>
              <a:rPr lang="en-GB" dirty="0"/>
              <a:t>It was defined by the transition from stationary landline to the first truly mobile devices.</a:t>
            </a:r>
          </a:p>
          <a:p>
            <a:pPr marL="0" indent="0">
              <a:buNone/>
            </a:pPr>
            <a:endParaRPr lang="en-GB" dirty="0"/>
          </a:p>
          <a:p>
            <a:pPr marL="0" indent="0">
              <a:buNone/>
            </a:pPr>
            <a:endParaRPr lang="en-GB" dirty="0"/>
          </a:p>
          <a:p>
            <a:pPr marL="0" indent="0">
              <a:buNone/>
            </a:pPr>
            <a:endParaRPr lang="en-GB" dirty="0"/>
          </a:p>
          <a:p>
            <a:r>
              <a:rPr lang="en-GB" dirty="0"/>
              <a:t>The technology used was Advanced Mobile Phone systems (AMPS), a pioneering yet limited technology that laid the foundation for the cellular networks being used today</a:t>
            </a:r>
            <a:endParaRPr lang="en-US" dirty="0"/>
          </a:p>
        </p:txBody>
      </p:sp>
      <p:pic>
        <p:nvPicPr>
          <p:cNvPr id="5" name="Picture 4" descr="A close-up of a telephone&#10;&#10;AI-generated content may be incorrect.">
            <a:extLst>
              <a:ext uri="{FF2B5EF4-FFF2-40B4-BE49-F238E27FC236}">
                <a16:creationId xmlns:a16="http://schemas.microsoft.com/office/drawing/2014/main" xmlns="" id="{BB1EB81B-CD05-CDE0-D5DC-1ABF95AAE7B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40013" y="2948153"/>
            <a:ext cx="3153103" cy="1814552"/>
          </a:xfrm>
          <a:prstGeom prst="rect">
            <a:avLst/>
          </a:prstGeom>
        </p:spPr>
      </p:pic>
    </p:spTree>
    <p:extLst>
      <p:ext uri="{BB962C8B-B14F-4D97-AF65-F5344CB8AC3E}">
        <p14:creationId xmlns:p14="http://schemas.microsoft.com/office/powerpoint/2010/main" val="4363439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34DBEA6-D7FF-3228-307C-8AEC70BE66E9}"/>
              </a:ext>
            </a:extLst>
          </p:cNvPr>
          <p:cNvSpPr>
            <a:spLocks noGrp="1"/>
          </p:cNvSpPr>
          <p:nvPr>
            <p:ph idx="1"/>
          </p:nvPr>
        </p:nvSpPr>
        <p:spPr>
          <a:xfrm>
            <a:off x="507124" y="911225"/>
            <a:ext cx="10515600" cy="4351338"/>
          </a:xfrm>
        </p:spPr>
        <p:txBody>
          <a:bodyPr>
            <a:normAutofit fontScale="92500" lnSpcReduction="10000"/>
          </a:bodyPr>
          <a:lstStyle/>
          <a:p>
            <a:pPr marL="0" indent="0">
              <a:buNone/>
            </a:pPr>
            <a:r>
              <a:rPr lang="en-US" dirty="0"/>
              <a:t>Technology and Characteristics</a:t>
            </a:r>
          </a:p>
          <a:p>
            <a:pPr marL="514350" indent="-514350">
              <a:buFont typeface="+mj-lt"/>
              <a:buAutoNum type="arabicPeriod"/>
            </a:pPr>
            <a:r>
              <a:rPr lang="en-US" dirty="0"/>
              <a:t>Analog Signals- AMPS used analog Frequency Modulation (FM) for voice transmission. This converted sound into continuous electronic pulses rather than the binary “1s” and “0s” (digital) used today.</a:t>
            </a:r>
          </a:p>
          <a:p>
            <a:pPr marL="514350" indent="-514350">
              <a:buFont typeface="+mj-lt"/>
              <a:buAutoNum type="arabicPeriod"/>
            </a:pPr>
            <a:r>
              <a:rPr lang="en-US" dirty="0"/>
              <a:t>The cellular concept- Engineers divided geographic regions into smaller, overlapping  “cells “. This allowed frequencies to be reused in non- adjacent areas, enabling the system to support more users than a single large radio tower could.</a:t>
            </a:r>
            <a:endParaRPr lang="en-GB" dirty="0"/>
          </a:p>
        </p:txBody>
      </p:sp>
    </p:spTree>
    <p:extLst>
      <p:ext uri="{BB962C8B-B14F-4D97-AF65-F5344CB8AC3E}">
        <p14:creationId xmlns:p14="http://schemas.microsoft.com/office/powerpoint/2010/main" val="2574473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A197A4F-76B8-6872-CB6F-D35D2AC19212}"/>
              </a:ext>
            </a:extLst>
          </p:cNvPr>
          <p:cNvSpPr>
            <a:spLocks noGrp="1"/>
          </p:cNvSpPr>
          <p:nvPr>
            <p:ph idx="1"/>
          </p:nvPr>
        </p:nvSpPr>
        <p:spPr/>
        <p:txBody>
          <a:bodyPr>
            <a:normAutofit fontScale="92500" lnSpcReduction="20000"/>
          </a:bodyPr>
          <a:lstStyle/>
          <a:p>
            <a:pPr marL="0" indent="0">
              <a:buNone/>
            </a:pPr>
            <a:r>
              <a:rPr lang="en-US" dirty="0"/>
              <a:t>3. FDMA ( Frequency Division Multiple Access)- In a 1G network, each conversation was assigned a dedicated pair of frequencies ( one for transmitting and one for receiving) with a 30kHz bandwidth for the entire duration of the call.</a:t>
            </a:r>
          </a:p>
          <a:p>
            <a:pPr marL="0" indent="0">
              <a:buNone/>
            </a:pPr>
            <a:endParaRPr lang="en-US" dirty="0"/>
          </a:p>
          <a:p>
            <a:pPr marL="0" indent="0">
              <a:buNone/>
            </a:pPr>
            <a:r>
              <a:rPr lang="en-US" dirty="0"/>
              <a:t>4. Networking Insight (circuit switching)- This meant a dedicated physical radio channel was kept open and “locked” for a single all.</a:t>
            </a:r>
          </a:p>
          <a:p>
            <a:pPr marL="0" indent="0">
              <a:buNone/>
            </a:pPr>
            <a:r>
              <a:rPr lang="en-US" dirty="0"/>
              <a:t>Because it was an open analog circuit , it had no encryption, making it extremely easy for eavesdroppers to listen in using simple </a:t>
            </a:r>
          </a:p>
          <a:p>
            <a:pPr marL="0" indent="0">
              <a:buNone/>
            </a:pPr>
            <a:r>
              <a:rPr lang="en-US" dirty="0"/>
              <a:t>Radio scanners.</a:t>
            </a:r>
            <a:endParaRPr lang="en-GB" dirty="0"/>
          </a:p>
        </p:txBody>
      </p:sp>
    </p:spTree>
    <p:extLst>
      <p:ext uri="{BB962C8B-B14F-4D97-AF65-F5344CB8AC3E}">
        <p14:creationId xmlns:p14="http://schemas.microsoft.com/office/powerpoint/2010/main" val="1269822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0AED9BB-751E-214A-D949-F9C7D0BD1455}"/>
              </a:ext>
            </a:extLst>
          </p:cNvPr>
          <p:cNvSpPr>
            <a:spLocks noGrp="1"/>
          </p:cNvSpPr>
          <p:nvPr>
            <p:ph idx="1"/>
          </p:nvPr>
        </p:nvSpPr>
        <p:spPr>
          <a:xfrm>
            <a:off x="507124" y="658977"/>
            <a:ext cx="10515600" cy="5915244"/>
          </a:xfrm>
        </p:spPr>
        <p:txBody>
          <a:bodyPr>
            <a:normAutofit fontScale="70000" lnSpcReduction="20000"/>
          </a:bodyPr>
          <a:lstStyle/>
          <a:p>
            <a:pPr marL="0" indent="0">
              <a:buNone/>
            </a:pPr>
            <a:r>
              <a:rPr lang="en-US" dirty="0"/>
              <a:t>The era of “The Brick”</a:t>
            </a:r>
          </a:p>
          <a:p>
            <a:r>
              <a:rPr lang="en-US" dirty="0"/>
              <a:t>The Motorola DynaTAC 8000X- was invented by Martin Cooper, this was the world’s first handheld mobile phones. Known as the “Brick Phone”, due to its weight and shape. It was popular in the 1980s.</a:t>
            </a:r>
          </a:p>
          <a:p>
            <a:pPr marL="0" indent="0">
              <a:buNone/>
            </a:pPr>
            <a:endParaRPr lang="en-US" dirty="0"/>
          </a:p>
          <a:p>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r>
              <a:rPr lang="en-US" dirty="0"/>
              <a:t>Car and “Bag” phones- Due to their high-power requirements and the size of transceivers, many 1G phones were not truly pocketable. They were either permanently installed in vehicles  (car phones) or carried in  shoulder bag containing a heavy battery pack and a handset (Bag Phones)</a:t>
            </a:r>
          </a:p>
          <a:p>
            <a:pPr marL="0" indent="0">
              <a:buNone/>
            </a:pPr>
            <a:r>
              <a:rPr lang="en-US" dirty="0"/>
              <a:t>.</a:t>
            </a:r>
          </a:p>
          <a:p>
            <a:endParaRPr lang="en-GB" dirty="0"/>
          </a:p>
        </p:txBody>
      </p:sp>
      <p:pic>
        <p:nvPicPr>
          <p:cNvPr id="5" name="Picture 4" descr="A close-up of a phone&#10;&#10;AI-generated content may be incorrect.">
            <a:extLst>
              <a:ext uri="{FF2B5EF4-FFF2-40B4-BE49-F238E27FC236}">
                <a16:creationId xmlns:a16="http://schemas.microsoft.com/office/drawing/2014/main" xmlns="" id="{21F9147E-A07F-2E6F-4BA1-96FC227392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7528" y="1891862"/>
            <a:ext cx="2626944" cy="3058510"/>
          </a:xfrm>
          <a:prstGeom prst="rect">
            <a:avLst/>
          </a:prstGeom>
        </p:spPr>
      </p:pic>
    </p:spTree>
    <p:extLst>
      <p:ext uri="{BB962C8B-B14F-4D97-AF65-F5344CB8AC3E}">
        <p14:creationId xmlns:p14="http://schemas.microsoft.com/office/powerpoint/2010/main" val="3727826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525EA96-039A-0283-74E2-EAAE7B38618E}"/>
              </a:ext>
            </a:extLst>
          </p:cNvPr>
          <p:cNvSpPr>
            <a:spLocks noGrp="1"/>
          </p:cNvSpPr>
          <p:nvPr>
            <p:ph idx="1"/>
          </p:nvPr>
        </p:nvSpPr>
        <p:spPr>
          <a:xfrm>
            <a:off x="838200" y="630621"/>
            <a:ext cx="10515600" cy="5546342"/>
          </a:xfrm>
        </p:spPr>
        <p:txBody>
          <a:bodyPr/>
          <a:lstStyle/>
          <a:p>
            <a:r>
              <a:rPr lang="en-US" dirty="0"/>
              <a:t>Target Audience- These devices were luxury items, costing thousands of dollars, and were used almost exclusively by high-level business executives and government officials.</a:t>
            </a:r>
          </a:p>
          <a:p>
            <a:endParaRPr lang="en-GB" dirty="0"/>
          </a:p>
        </p:txBody>
      </p:sp>
    </p:spTree>
    <p:extLst>
      <p:ext uri="{BB962C8B-B14F-4D97-AF65-F5344CB8AC3E}">
        <p14:creationId xmlns:p14="http://schemas.microsoft.com/office/powerpoint/2010/main" val="41549404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23DC7D-9087-6CFF-72DB-5C197D12A030}"/>
              </a:ext>
            </a:extLst>
          </p:cNvPr>
          <p:cNvSpPr>
            <a:spLocks noGrp="1"/>
          </p:cNvSpPr>
          <p:nvPr>
            <p:ph type="title"/>
          </p:nvPr>
        </p:nvSpPr>
        <p:spPr/>
        <p:txBody>
          <a:bodyPr/>
          <a:lstStyle/>
          <a:p>
            <a:r>
              <a:rPr lang="en-US" dirty="0"/>
              <a:t>2G-The digital Revolution(1990s)</a:t>
            </a:r>
            <a:endParaRPr lang="en-GB" dirty="0"/>
          </a:p>
        </p:txBody>
      </p:sp>
      <p:sp>
        <p:nvSpPr>
          <p:cNvPr id="3" name="Content Placeholder 2">
            <a:extLst>
              <a:ext uri="{FF2B5EF4-FFF2-40B4-BE49-F238E27FC236}">
                <a16:creationId xmlns:a16="http://schemas.microsoft.com/office/drawing/2014/main" xmlns="" id="{F3508B03-0007-0052-0957-9800978EFC23}"/>
              </a:ext>
            </a:extLst>
          </p:cNvPr>
          <p:cNvSpPr>
            <a:spLocks noGrp="1"/>
          </p:cNvSpPr>
          <p:nvPr>
            <p:ph idx="1"/>
          </p:nvPr>
        </p:nvSpPr>
        <p:spPr/>
        <p:txBody>
          <a:bodyPr/>
          <a:lstStyle/>
          <a:p>
            <a:r>
              <a:rPr lang="en-US" dirty="0"/>
              <a:t>It was introduced in 1991.</a:t>
            </a:r>
          </a:p>
          <a:p>
            <a:r>
              <a:rPr lang="en-US" dirty="0"/>
              <a:t>In this era the most significant pivot in telecommunication </a:t>
            </a:r>
            <a:r>
              <a:rPr lang="en-US" dirty="0" err="1"/>
              <a:t>ocured</a:t>
            </a:r>
            <a:r>
              <a:rPr lang="en-US" dirty="0"/>
              <a:t>: the transition from Analog to Digital</a:t>
            </a:r>
            <a:r>
              <a:rPr lang="en-US" dirty="0" smtClean="0"/>
              <a:t>.</a:t>
            </a:r>
            <a:endParaRPr lang="en-US" dirty="0"/>
          </a:p>
          <a:p>
            <a:pPr marL="0" indent="0">
              <a:buNone/>
            </a:pPr>
            <a:endParaRPr lang="en-US" dirty="0"/>
          </a:p>
        </p:txBody>
      </p:sp>
    </p:spTree>
    <p:extLst>
      <p:ext uri="{BB962C8B-B14F-4D97-AF65-F5344CB8AC3E}">
        <p14:creationId xmlns:p14="http://schemas.microsoft.com/office/powerpoint/2010/main" val="3518336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960" y="103822"/>
            <a:ext cx="10515600" cy="1325563"/>
          </a:xfrm>
        </p:spPr>
        <p:txBody>
          <a:bodyPr/>
          <a:lstStyle/>
          <a:p>
            <a:r>
              <a:rPr lang="en-US" dirty="0"/>
              <a:t>4G – The Broadband Era (2010s)</a:t>
            </a:r>
            <a:r>
              <a:rPr lang="en-US" b="1" dirty="0"/>
              <a:t/>
            </a:r>
            <a:br>
              <a:rPr lang="en-US" b="1" dirty="0"/>
            </a:br>
            <a:endParaRPr lang="en-US" dirty="0"/>
          </a:p>
        </p:txBody>
      </p:sp>
      <p:sp>
        <p:nvSpPr>
          <p:cNvPr id="3" name="Content Placeholder 2"/>
          <p:cNvSpPr>
            <a:spLocks noGrp="1"/>
          </p:cNvSpPr>
          <p:nvPr>
            <p:ph idx="1"/>
          </p:nvPr>
        </p:nvSpPr>
        <p:spPr>
          <a:xfrm>
            <a:off x="345440" y="1429385"/>
            <a:ext cx="11008360" cy="4239895"/>
          </a:xfrm>
        </p:spPr>
        <p:txBody>
          <a:bodyPr>
            <a:normAutofit fontScale="92500" lnSpcReduction="10000"/>
          </a:bodyPr>
          <a:lstStyle/>
          <a:p>
            <a:pPr marL="0" indent="0">
              <a:buNone/>
            </a:pPr>
            <a:r>
              <a:rPr lang="en-US" b="1" dirty="0" smtClean="0"/>
              <a:t>             </a:t>
            </a:r>
            <a:r>
              <a:rPr lang="en-US" u="sng" dirty="0" smtClean="0"/>
              <a:t>Introduction</a:t>
            </a:r>
          </a:p>
          <a:p>
            <a:pPr marL="0" indent="0">
              <a:buNone/>
            </a:pPr>
            <a:endParaRPr lang="en-US" u="sng" dirty="0" smtClean="0"/>
          </a:p>
          <a:p>
            <a:pPr marL="0" indent="0">
              <a:buNone/>
            </a:pPr>
            <a:r>
              <a:rPr lang="en-US" dirty="0" smtClean="0"/>
              <a:t>4G </a:t>
            </a:r>
            <a:r>
              <a:rPr lang="en-US" dirty="0"/>
              <a:t>technology, introduced in the late 2000s and widely deployed in the 2010s, revolutionized mobile communication by providing significantly faster data speeds and enhanced network capabilities compared to 3G. It enabled high-quality video streaming, faster downloads, and improved overall mobile internet experience</a:t>
            </a:r>
            <a:r>
              <a:rPr lang="en-US" dirty="0" smtClean="0"/>
              <a:t>.</a:t>
            </a:r>
          </a:p>
          <a:p>
            <a:pPr marL="0" indent="0">
              <a:buNone/>
            </a:pPr>
            <a:r>
              <a:rPr lang="en-US" dirty="0"/>
              <a:t> </a:t>
            </a:r>
            <a:r>
              <a:rPr lang="en-US" dirty="0" smtClean="0"/>
              <a:t>             </a:t>
            </a:r>
          </a:p>
          <a:p>
            <a:pPr marL="0" indent="0">
              <a:buNone/>
            </a:pPr>
            <a:r>
              <a:rPr lang="en-US" dirty="0"/>
              <a:t> </a:t>
            </a:r>
            <a:r>
              <a:rPr lang="en-US" dirty="0" smtClean="0"/>
              <a:t>           </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25840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a:r>
            <a:br>
              <a:rPr lang="en-US" b="1" dirty="0"/>
            </a:br>
            <a:endParaRPr lang="en-US" dirty="0"/>
          </a:p>
        </p:txBody>
      </p:sp>
      <p:sp>
        <p:nvSpPr>
          <p:cNvPr id="3" name="Content Placeholder 2"/>
          <p:cNvSpPr>
            <a:spLocks noGrp="1"/>
          </p:cNvSpPr>
          <p:nvPr>
            <p:ph idx="1"/>
          </p:nvPr>
        </p:nvSpPr>
        <p:spPr>
          <a:xfrm>
            <a:off x="591820" y="365125"/>
            <a:ext cx="11008360" cy="4239895"/>
          </a:xfrm>
        </p:spPr>
        <p:txBody>
          <a:bodyPr>
            <a:normAutofit fontScale="85000" lnSpcReduction="20000"/>
          </a:bodyPr>
          <a:lstStyle/>
          <a:p>
            <a:pPr marL="0" indent="0">
              <a:buNone/>
            </a:pPr>
            <a:r>
              <a:rPr lang="en-US" b="1" dirty="0" smtClean="0"/>
              <a:t>       </a:t>
            </a:r>
            <a:r>
              <a:rPr lang="en-US" u="sng" dirty="0" smtClean="0"/>
              <a:t>Technology </a:t>
            </a:r>
            <a:r>
              <a:rPr lang="en-US" u="sng" dirty="0"/>
              <a:t>and </a:t>
            </a:r>
            <a:r>
              <a:rPr lang="en-US" u="sng" dirty="0" smtClean="0"/>
              <a:t>Characteristics</a:t>
            </a:r>
          </a:p>
          <a:p>
            <a:pPr marL="0" indent="0">
              <a:buNone/>
            </a:pPr>
            <a:endParaRPr lang="en-US" u="sng" dirty="0"/>
          </a:p>
          <a:p>
            <a:r>
              <a:rPr lang="en-US" dirty="0"/>
              <a:t>LTE (Long Term Evolution): The dominant 4G technology, offering high data rates and low latency.</a:t>
            </a:r>
          </a:p>
          <a:p>
            <a:r>
              <a:rPr lang="en-US" dirty="0"/>
              <a:t>OFDM (Orthogonal Frequency Division Multiplexing): A key modulation technique used in 4G to improve spectral efficiency and reduce interference.</a:t>
            </a:r>
          </a:p>
          <a:p>
            <a:r>
              <a:rPr lang="en-US" dirty="0"/>
              <a:t>All-IP Network</a:t>
            </a:r>
            <a:r>
              <a:rPr lang="en-US" b="1" dirty="0"/>
              <a:t>:</a:t>
            </a:r>
            <a:r>
              <a:rPr lang="en-US" dirty="0"/>
              <a:t> 4G networks are fully IP-based, supporting seamless integration of voice, data, and multimedia services.</a:t>
            </a:r>
          </a:p>
          <a:p>
            <a:r>
              <a:rPr lang="en-US" dirty="0"/>
              <a:t>Data Speeds</a:t>
            </a:r>
            <a:r>
              <a:rPr lang="en-US" b="1" dirty="0"/>
              <a:t>:</a:t>
            </a:r>
            <a:r>
              <a:rPr lang="en-US" dirty="0"/>
              <a:t> Typical speeds range from 10 Mbps to 100 Mbps, with peak speeds reaching up to 1 </a:t>
            </a:r>
            <a:r>
              <a:rPr lang="en-US" dirty="0" err="1"/>
              <a:t>Gbps</a:t>
            </a:r>
            <a:r>
              <a:rPr lang="en-US" dirty="0"/>
              <a:t> in advanced deployments.</a:t>
            </a:r>
          </a:p>
          <a:p>
            <a:pPr marL="0" indent="0">
              <a:buNone/>
            </a:pPr>
            <a:endParaRPr lang="en-US" dirty="0"/>
          </a:p>
        </p:txBody>
      </p:sp>
    </p:spTree>
    <p:extLst>
      <p:ext uri="{BB962C8B-B14F-4D97-AF65-F5344CB8AC3E}">
        <p14:creationId xmlns:p14="http://schemas.microsoft.com/office/powerpoint/2010/main" val="225840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a:r>
            <a:br>
              <a:rPr lang="en-US" b="1" dirty="0"/>
            </a:br>
            <a:endParaRPr lang="en-US" dirty="0"/>
          </a:p>
        </p:txBody>
      </p:sp>
      <p:sp>
        <p:nvSpPr>
          <p:cNvPr id="3" name="Content Placeholder 2"/>
          <p:cNvSpPr>
            <a:spLocks noGrp="1"/>
          </p:cNvSpPr>
          <p:nvPr>
            <p:ph idx="1"/>
          </p:nvPr>
        </p:nvSpPr>
        <p:spPr>
          <a:xfrm>
            <a:off x="701040" y="562928"/>
            <a:ext cx="11008360" cy="4239895"/>
          </a:xfrm>
        </p:spPr>
        <p:txBody>
          <a:bodyPr>
            <a:normAutofit fontScale="92500" lnSpcReduction="10000"/>
          </a:bodyPr>
          <a:lstStyle/>
          <a:p>
            <a:pPr marL="0" indent="0">
              <a:buNone/>
            </a:pPr>
            <a:r>
              <a:rPr lang="en-US" b="1" dirty="0" smtClean="0"/>
              <a:t>           </a:t>
            </a:r>
            <a:r>
              <a:rPr lang="en-US" u="sng" dirty="0" smtClean="0"/>
              <a:t>Key Features</a:t>
            </a:r>
          </a:p>
          <a:p>
            <a:pPr marL="0" indent="0">
              <a:buNone/>
            </a:pPr>
            <a:endParaRPr lang="en-US" u="sng" dirty="0"/>
          </a:p>
          <a:p>
            <a:r>
              <a:rPr lang="en-US" dirty="0" smtClean="0"/>
              <a:t>High-Speed </a:t>
            </a:r>
            <a:r>
              <a:rPr lang="en-US" dirty="0"/>
              <a:t>Mobile Internet</a:t>
            </a:r>
            <a:r>
              <a:rPr lang="en-US" b="1" dirty="0"/>
              <a:t>:</a:t>
            </a:r>
            <a:r>
              <a:rPr lang="en-US" dirty="0"/>
              <a:t> Enabled HD video streaming, online gaming, and faster web </a:t>
            </a:r>
            <a:r>
              <a:rPr lang="en-US" dirty="0" smtClean="0"/>
              <a:t>browsing.</a:t>
            </a:r>
          </a:p>
          <a:p>
            <a:r>
              <a:rPr lang="en-US" dirty="0" smtClean="0"/>
              <a:t>Enhanced </a:t>
            </a:r>
            <a:r>
              <a:rPr lang="en-US" dirty="0"/>
              <a:t>Voice Services</a:t>
            </a:r>
            <a:r>
              <a:rPr lang="en-US" b="1" dirty="0"/>
              <a:t>:</a:t>
            </a:r>
            <a:r>
              <a:rPr lang="en-US" dirty="0"/>
              <a:t> Introduction of </a:t>
            </a:r>
            <a:r>
              <a:rPr lang="en-US" dirty="0" err="1"/>
              <a:t>VoLTE</a:t>
            </a:r>
            <a:r>
              <a:rPr lang="en-US" dirty="0"/>
              <a:t> (Voice over LTE) for clearer and faster voice </a:t>
            </a:r>
            <a:r>
              <a:rPr lang="en-US" dirty="0" smtClean="0"/>
              <a:t>calls.</a:t>
            </a:r>
          </a:p>
          <a:p>
            <a:r>
              <a:rPr lang="en-US" dirty="0" smtClean="0"/>
              <a:t>Improved </a:t>
            </a:r>
            <a:r>
              <a:rPr lang="en-US" dirty="0"/>
              <a:t>Network Capacity</a:t>
            </a:r>
            <a:r>
              <a:rPr lang="en-US" b="1" dirty="0"/>
              <a:t>:</a:t>
            </a:r>
            <a:r>
              <a:rPr lang="en-US" dirty="0"/>
              <a:t> Better support for multiple devices and higher data </a:t>
            </a:r>
            <a:r>
              <a:rPr lang="en-US" dirty="0" smtClean="0"/>
              <a:t>traffic.</a:t>
            </a:r>
          </a:p>
          <a:p>
            <a:r>
              <a:rPr lang="en-US" dirty="0" smtClean="0"/>
              <a:t>Low </a:t>
            </a:r>
            <a:r>
              <a:rPr lang="en-US" dirty="0"/>
              <a:t>Latency</a:t>
            </a:r>
            <a:r>
              <a:rPr lang="en-US" b="1" dirty="0"/>
              <a:t>:</a:t>
            </a:r>
            <a:r>
              <a:rPr lang="en-US" dirty="0"/>
              <a:t> Critical for real-time applications like gaming and video conferencing</a:t>
            </a:r>
            <a:r>
              <a:rPr lang="en-US" dirty="0" smtClean="0"/>
              <a:t>.</a:t>
            </a:r>
          </a:p>
          <a:p>
            <a:endParaRPr lang="en-US" dirty="0"/>
          </a:p>
          <a:p>
            <a:pPr marL="0" indent="0">
              <a:buNone/>
            </a:pPr>
            <a:endParaRPr lang="en-US" dirty="0"/>
          </a:p>
        </p:txBody>
      </p:sp>
    </p:spTree>
    <p:extLst>
      <p:ext uri="{BB962C8B-B14F-4D97-AF65-F5344CB8AC3E}">
        <p14:creationId xmlns:p14="http://schemas.microsoft.com/office/powerpoint/2010/main" val="2258403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a:r>
            <a:br>
              <a:rPr lang="en-US" b="1" dirty="0"/>
            </a:br>
            <a:endParaRPr lang="en-US" dirty="0"/>
          </a:p>
        </p:txBody>
      </p:sp>
      <p:sp>
        <p:nvSpPr>
          <p:cNvPr id="3" name="Content Placeholder 2"/>
          <p:cNvSpPr>
            <a:spLocks noGrp="1"/>
          </p:cNvSpPr>
          <p:nvPr>
            <p:ph idx="1"/>
          </p:nvPr>
        </p:nvSpPr>
        <p:spPr>
          <a:xfrm>
            <a:off x="345440" y="328613"/>
            <a:ext cx="11008360" cy="4239895"/>
          </a:xfrm>
        </p:spPr>
        <p:txBody>
          <a:bodyPr>
            <a:normAutofit lnSpcReduction="10000"/>
          </a:bodyPr>
          <a:lstStyle/>
          <a:p>
            <a:pPr marL="0" indent="0">
              <a:buNone/>
            </a:pPr>
            <a:r>
              <a:rPr lang="en-US" b="1" dirty="0" smtClean="0"/>
              <a:t>             </a:t>
            </a:r>
            <a:r>
              <a:rPr lang="en-US" u="sng" dirty="0" smtClean="0"/>
              <a:t>Applications</a:t>
            </a:r>
          </a:p>
          <a:p>
            <a:pPr marL="0" indent="0">
              <a:buNone/>
            </a:pPr>
            <a:endParaRPr lang="en-US" u="sng" dirty="0"/>
          </a:p>
          <a:p>
            <a:r>
              <a:rPr lang="en-US" dirty="0"/>
              <a:t>Streaming Services</a:t>
            </a:r>
            <a:r>
              <a:rPr lang="en-US" b="1" dirty="0"/>
              <a:t>:</a:t>
            </a:r>
            <a:r>
              <a:rPr lang="en-US" dirty="0"/>
              <a:t> Popularized mobile video platforms like YouTube, Netflix, and Twitch.</a:t>
            </a:r>
          </a:p>
          <a:p>
            <a:r>
              <a:rPr lang="en-US" dirty="0"/>
              <a:t>Mobile Gaming</a:t>
            </a:r>
            <a:r>
              <a:rPr lang="en-US" b="1" dirty="0"/>
              <a:t>:</a:t>
            </a:r>
            <a:r>
              <a:rPr lang="en-US" dirty="0"/>
              <a:t> Supported the rise of multiplayer and cloud gaming on mobile devices.</a:t>
            </a:r>
          </a:p>
          <a:p>
            <a:r>
              <a:rPr lang="en-US" dirty="0" err="1"/>
              <a:t>IoT</a:t>
            </a:r>
            <a:r>
              <a:rPr lang="en-US" dirty="0"/>
              <a:t> Expansion</a:t>
            </a:r>
            <a:r>
              <a:rPr lang="en-US" b="1" dirty="0"/>
              <a:t>:</a:t>
            </a:r>
            <a:r>
              <a:rPr lang="en-US" dirty="0"/>
              <a:t> Facilitated growth of Internet of Things devices with reliable connectivity.</a:t>
            </a:r>
          </a:p>
          <a:p>
            <a:r>
              <a:rPr lang="en-US" dirty="0"/>
              <a:t>Smart Cities</a:t>
            </a:r>
            <a:r>
              <a:rPr lang="en-US" b="1" dirty="0"/>
              <a:t>:</a:t>
            </a:r>
            <a:r>
              <a:rPr lang="en-US" dirty="0"/>
              <a:t> Enabled smart infrastructure and connected services in urban areas.</a:t>
            </a:r>
          </a:p>
          <a:p>
            <a:pPr marL="0" indent="0">
              <a:buNone/>
            </a:pPr>
            <a:endParaRPr lang="en-US" dirty="0"/>
          </a:p>
        </p:txBody>
      </p:sp>
    </p:spTree>
    <p:extLst>
      <p:ext uri="{BB962C8B-B14F-4D97-AF65-F5344CB8AC3E}">
        <p14:creationId xmlns:p14="http://schemas.microsoft.com/office/powerpoint/2010/main" val="225840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a:r>
            <a:br>
              <a:rPr lang="en-US" b="1" dirty="0"/>
            </a:br>
            <a:endParaRPr lang="en-US" dirty="0"/>
          </a:p>
        </p:txBody>
      </p:sp>
      <p:sp>
        <p:nvSpPr>
          <p:cNvPr id="3" name="Content Placeholder 2"/>
          <p:cNvSpPr>
            <a:spLocks noGrp="1"/>
          </p:cNvSpPr>
          <p:nvPr>
            <p:ph idx="1"/>
          </p:nvPr>
        </p:nvSpPr>
        <p:spPr>
          <a:xfrm>
            <a:off x="294640" y="1"/>
            <a:ext cx="11191240" cy="6858000"/>
          </a:xfrm>
        </p:spPr>
        <p:txBody>
          <a:bodyPr>
            <a:normAutofit/>
          </a:bodyPr>
          <a:lstStyle/>
          <a:p>
            <a:pPr marL="0" indent="0">
              <a:buNone/>
            </a:pPr>
            <a:r>
              <a:rPr lang="en-US" b="1" dirty="0" smtClean="0"/>
              <a:t>              </a:t>
            </a:r>
            <a:r>
              <a:rPr lang="en-US" u="sng" dirty="0" smtClean="0"/>
              <a:t>Advantages</a:t>
            </a:r>
            <a:endParaRPr lang="en-US" u="sng" dirty="0"/>
          </a:p>
          <a:p>
            <a:r>
              <a:rPr lang="en-US" dirty="0"/>
              <a:t>Much faster data speeds than 3G.</a:t>
            </a:r>
          </a:p>
          <a:p>
            <a:r>
              <a:rPr lang="en-US" dirty="0"/>
              <a:t>Improved network reliability and capacity.</a:t>
            </a:r>
          </a:p>
          <a:p>
            <a:r>
              <a:rPr lang="en-US" dirty="0"/>
              <a:t>Support for advanced multimedia and real-time </a:t>
            </a:r>
            <a:r>
              <a:rPr lang="en-US" dirty="0" smtClean="0"/>
              <a:t>applications</a:t>
            </a:r>
          </a:p>
          <a:p>
            <a:pPr marL="0" indent="0">
              <a:buNone/>
            </a:pPr>
            <a:r>
              <a:rPr lang="en-US" dirty="0" smtClean="0"/>
              <a:t>                </a:t>
            </a:r>
            <a:r>
              <a:rPr lang="en-US" u="sng" dirty="0" smtClean="0"/>
              <a:t>Challenges</a:t>
            </a:r>
          </a:p>
          <a:p>
            <a:r>
              <a:rPr lang="en-US" dirty="0"/>
              <a:t>High deployment costs for infrastructure upgrades.</a:t>
            </a:r>
          </a:p>
          <a:p>
            <a:r>
              <a:rPr lang="en-US" dirty="0"/>
              <a:t>Spectrum allocation and management complexities.</a:t>
            </a:r>
          </a:p>
          <a:p>
            <a:r>
              <a:rPr lang="en-US" dirty="0"/>
              <a:t>Initial device compatibility issues during early rollout.</a:t>
            </a:r>
          </a:p>
          <a:p>
            <a:pPr marL="0" indent="0">
              <a:buNone/>
            </a:pPr>
            <a:endParaRPr lang="en-US" u="sng" dirty="0"/>
          </a:p>
          <a:p>
            <a:pPr marL="0" indent="0">
              <a:buNone/>
            </a:pPr>
            <a:endParaRPr lang="en-US" dirty="0"/>
          </a:p>
        </p:txBody>
      </p:sp>
    </p:spTree>
    <p:extLst>
      <p:ext uri="{BB962C8B-B14F-4D97-AF65-F5344CB8AC3E}">
        <p14:creationId xmlns:p14="http://schemas.microsoft.com/office/powerpoint/2010/main" val="2258403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E731AFA-2724-DF96-02B6-8C8D7740B348}"/>
              </a:ext>
            </a:extLst>
          </p:cNvPr>
          <p:cNvSpPr>
            <a:spLocks noGrp="1"/>
          </p:cNvSpPr>
          <p:nvPr>
            <p:ph type="title"/>
          </p:nvPr>
        </p:nvSpPr>
        <p:spPr/>
        <p:txBody>
          <a:bodyPr/>
          <a:lstStyle/>
          <a:p>
            <a:r>
              <a:rPr lang="en-US" dirty="0"/>
              <a:t>5G-Wireless Technology</a:t>
            </a:r>
            <a:endParaRPr lang="en-GB" dirty="0"/>
          </a:p>
        </p:txBody>
      </p:sp>
      <p:sp>
        <p:nvSpPr>
          <p:cNvPr id="3" name="Content Placeholder 2">
            <a:extLst>
              <a:ext uri="{FF2B5EF4-FFF2-40B4-BE49-F238E27FC236}">
                <a16:creationId xmlns:a16="http://schemas.microsoft.com/office/drawing/2014/main" xmlns="" id="{0CA712CE-853C-992D-D195-80F05E793CAD}"/>
              </a:ext>
            </a:extLst>
          </p:cNvPr>
          <p:cNvSpPr>
            <a:spLocks noGrp="1"/>
          </p:cNvSpPr>
          <p:nvPr>
            <p:ph idx="1"/>
          </p:nvPr>
        </p:nvSpPr>
        <p:spPr/>
        <p:txBody>
          <a:bodyPr/>
          <a:lstStyle/>
          <a:p>
            <a:pPr marL="0" indent="0">
              <a:buNone/>
            </a:pPr>
            <a:r>
              <a:rPr lang="en-US" dirty="0"/>
              <a:t>Introduction</a:t>
            </a:r>
          </a:p>
          <a:p>
            <a:r>
              <a:rPr lang="en-US" dirty="0"/>
              <a:t>5G is the fifth generation of mobile wireless communication designed to provide very high data speeds, ultra-low latency, high reliability, and massive device connectivity. Unlike earlier generations, 5G supports not only human communication but also machines and smart systems, enabling advanced technologies such as IoT, smart cities, and autonomous vehicles.</a:t>
            </a:r>
            <a:endParaRPr lang="en-GB" dirty="0"/>
          </a:p>
        </p:txBody>
      </p:sp>
    </p:spTree>
    <p:extLst>
      <p:ext uri="{BB962C8B-B14F-4D97-AF65-F5344CB8AC3E}">
        <p14:creationId xmlns:p14="http://schemas.microsoft.com/office/powerpoint/2010/main" val="27455009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A4F698B3-F05C-8F37-AA21-9BCF4D18B6E9}"/>
              </a:ext>
            </a:extLst>
          </p:cNvPr>
          <p:cNvSpPr>
            <a:spLocks noGrp="1"/>
          </p:cNvSpPr>
          <p:nvPr>
            <p:ph idx="1"/>
          </p:nvPr>
        </p:nvSpPr>
        <p:spPr>
          <a:xfrm>
            <a:off x="599090" y="567559"/>
            <a:ext cx="10754710" cy="5609404"/>
          </a:xfrm>
        </p:spPr>
        <p:txBody>
          <a:bodyPr>
            <a:normAutofit fontScale="77500" lnSpcReduction="20000"/>
          </a:bodyPr>
          <a:lstStyle/>
          <a:p>
            <a:pPr marL="0" indent="0">
              <a:buNone/>
            </a:pPr>
            <a:r>
              <a:rPr lang="en-US" u="sng" dirty="0"/>
              <a:t>Key Objectives of 5G</a:t>
            </a:r>
          </a:p>
          <a:p>
            <a:pPr marL="0" indent="0">
              <a:buNone/>
            </a:pPr>
            <a:r>
              <a:rPr lang="en-US" dirty="0"/>
              <a:t>Achieve multi-Gbps data speeds.</a:t>
            </a:r>
          </a:p>
          <a:p>
            <a:pPr marL="0" indent="0">
              <a:buNone/>
            </a:pPr>
            <a:r>
              <a:rPr lang="en-US" dirty="0"/>
              <a:t>Provide low latency (≈1 m s).</a:t>
            </a:r>
          </a:p>
          <a:p>
            <a:pPr marL="0" indent="0">
              <a:buNone/>
            </a:pPr>
            <a:r>
              <a:rPr lang="en-US" dirty="0"/>
              <a:t>Support millions of devices simultaneously.</a:t>
            </a:r>
          </a:p>
          <a:p>
            <a:pPr marL="0" indent="0">
              <a:buNone/>
            </a:pPr>
            <a:r>
              <a:rPr lang="en-US" dirty="0"/>
              <a:t>Ensure high reliability.</a:t>
            </a:r>
          </a:p>
          <a:p>
            <a:pPr marL="0" indent="0">
              <a:buNone/>
            </a:pPr>
            <a:r>
              <a:rPr lang="en-US" dirty="0"/>
              <a:t>Improve energy efficiency.</a:t>
            </a:r>
          </a:p>
          <a:p>
            <a:pPr marL="0" indent="0">
              <a:buNone/>
            </a:pPr>
            <a:endParaRPr lang="en-US" dirty="0"/>
          </a:p>
          <a:p>
            <a:pPr marL="0" indent="0">
              <a:buNone/>
            </a:pPr>
            <a:r>
              <a:rPr lang="en-US" u="sng" dirty="0"/>
              <a:t>Main Features</a:t>
            </a:r>
          </a:p>
          <a:p>
            <a:pPr marL="0" indent="0">
              <a:buNone/>
            </a:pPr>
            <a:r>
              <a:rPr lang="en-US" dirty="0"/>
              <a:t>High Speed: Up to 10–20 Gbps, enabling HD/8K streaming and fast downloads,</a:t>
            </a:r>
          </a:p>
          <a:p>
            <a:pPr marL="0" indent="0">
              <a:buNone/>
            </a:pPr>
            <a:r>
              <a:rPr lang="en-US" dirty="0"/>
              <a:t>Low Latency: Suitable for real-time applications like remote surgery and self-driving cars.</a:t>
            </a:r>
          </a:p>
          <a:p>
            <a:pPr marL="0" indent="0">
              <a:buNone/>
            </a:pPr>
            <a:r>
              <a:rPr lang="en-US" dirty="0"/>
              <a:t>Massive Connectivity: Supports IoT and smart devices.</a:t>
            </a:r>
          </a:p>
          <a:p>
            <a:pPr marL="0" indent="0">
              <a:buNone/>
            </a:pPr>
            <a:r>
              <a:rPr lang="en-US" dirty="0"/>
              <a:t>High Reliability: Used in mission-critical services.</a:t>
            </a:r>
          </a:p>
          <a:p>
            <a:pPr marL="0" indent="0">
              <a:buNone/>
            </a:pPr>
            <a:r>
              <a:rPr lang="en-US" dirty="0"/>
              <a:t>Energy Efficiency: Lower power consumption and longer battery life.</a:t>
            </a:r>
            <a:endParaRPr lang="en-GB" dirty="0"/>
          </a:p>
        </p:txBody>
      </p:sp>
    </p:spTree>
    <p:extLst>
      <p:ext uri="{BB962C8B-B14F-4D97-AF65-F5344CB8AC3E}">
        <p14:creationId xmlns:p14="http://schemas.microsoft.com/office/powerpoint/2010/main" val="2502576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B2DB297-13C3-CA19-9739-3B5AEA2BC945}"/>
              </a:ext>
            </a:extLst>
          </p:cNvPr>
          <p:cNvSpPr>
            <a:spLocks noGrp="1"/>
          </p:cNvSpPr>
          <p:nvPr>
            <p:ph idx="1"/>
          </p:nvPr>
        </p:nvSpPr>
        <p:spPr>
          <a:xfrm>
            <a:off x="362607" y="643210"/>
            <a:ext cx="10515600" cy="5883713"/>
          </a:xfrm>
        </p:spPr>
        <p:txBody>
          <a:bodyPr>
            <a:normAutofit fontScale="70000" lnSpcReduction="20000"/>
          </a:bodyPr>
          <a:lstStyle/>
          <a:p>
            <a:pPr marL="0" indent="0">
              <a:buNone/>
            </a:pPr>
            <a:r>
              <a:rPr lang="en-GB" u="sng" dirty="0"/>
              <a:t>5G Frequency Bands</a:t>
            </a:r>
          </a:p>
          <a:p>
            <a:pPr marL="0" indent="0">
              <a:buNone/>
            </a:pPr>
            <a:r>
              <a:rPr lang="en-GB" dirty="0"/>
              <a:t>Low Band: Wide coverage, lower speed</a:t>
            </a:r>
          </a:p>
          <a:p>
            <a:pPr marL="0" indent="0">
              <a:buNone/>
            </a:pPr>
            <a:r>
              <a:rPr lang="en-GB" dirty="0"/>
              <a:t>Mid Band: Balanced speed and coverage</a:t>
            </a:r>
          </a:p>
          <a:p>
            <a:pPr marL="0" indent="0">
              <a:buNone/>
            </a:pPr>
            <a:r>
              <a:rPr lang="en-GB" dirty="0"/>
              <a:t>High Band (mm Wave): Very high speed, short range</a:t>
            </a:r>
          </a:p>
          <a:p>
            <a:pPr marL="0" indent="0">
              <a:buNone/>
            </a:pPr>
            <a:endParaRPr lang="en-GB" dirty="0"/>
          </a:p>
          <a:p>
            <a:pPr marL="0" indent="0">
              <a:buNone/>
            </a:pPr>
            <a:r>
              <a:rPr lang="en-GB" u="sng" dirty="0"/>
              <a:t>Key Technologies in 5G</a:t>
            </a:r>
          </a:p>
          <a:p>
            <a:pPr marL="0" indent="0">
              <a:buNone/>
            </a:pPr>
            <a:r>
              <a:rPr lang="en-GB" dirty="0"/>
              <a:t>Massive MIMO: Multiple antennas to increase capacity.</a:t>
            </a:r>
          </a:p>
          <a:p>
            <a:pPr marL="0" indent="0">
              <a:buNone/>
            </a:pPr>
            <a:r>
              <a:rPr lang="en-GB" dirty="0"/>
              <a:t>Beamforming: Directs signals to users for better performance.</a:t>
            </a:r>
          </a:p>
          <a:p>
            <a:pPr marL="0" indent="0">
              <a:buNone/>
            </a:pPr>
            <a:r>
              <a:rPr lang="en-GB" dirty="0"/>
              <a:t>Network Slicing: Multiple virtual networks on one physical network.</a:t>
            </a:r>
          </a:p>
          <a:p>
            <a:pPr marL="0" indent="0">
              <a:buNone/>
            </a:pPr>
            <a:r>
              <a:rPr lang="en-GB" dirty="0"/>
              <a:t>Edge Computing: Reduces latency by processing data closer to users.</a:t>
            </a:r>
          </a:p>
          <a:p>
            <a:pPr marL="0" indent="0">
              <a:buNone/>
            </a:pPr>
            <a:endParaRPr lang="en-GB" dirty="0"/>
          </a:p>
          <a:p>
            <a:pPr marL="0" indent="0">
              <a:buNone/>
            </a:pPr>
            <a:r>
              <a:rPr lang="en-GB" u="sng" dirty="0"/>
              <a:t>5G Service Types</a:t>
            </a:r>
          </a:p>
          <a:p>
            <a:pPr marL="0" indent="0">
              <a:buNone/>
            </a:pPr>
            <a:r>
              <a:rPr lang="en-GB" dirty="0"/>
              <a:t>eMBB ( enhanced mobile broadband): High-speed mobile broadband</a:t>
            </a:r>
          </a:p>
          <a:p>
            <a:pPr marL="0" indent="0">
              <a:buNone/>
            </a:pPr>
            <a:r>
              <a:rPr lang="en-GB" dirty="0"/>
              <a:t>URLLC (ultra-reliable low-latency communication): Ultra-reliable, low-latency communication</a:t>
            </a:r>
          </a:p>
          <a:p>
            <a:pPr marL="0" indent="0">
              <a:buNone/>
            </a:pPr>
            <a:r>
              <a:rPr lang="en-GB" dirty="0"/>
              <a:t>MTC ( massive machine -type communication): Massive machine-type communication (IoT)</a:t>
            </a:r>
          </a:p>
        </p:txBody>
      </p:sp>
    </p:spTree>
    <p:extLst>
      <p:ext uri="{BB962C8B-B14F-4D97-AF65-F5344CB8AC3E}">
        <p14:creationId xmlns:p14="http://schemas.microsoft.com/office/powerpoint/2010/main" val="2619324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695CFD4B-51C2-0672-D883-3135EF176C13}"/>
              </a:ext>
            </a:extLst>
          </p:cNvPr>
          <p:cNvSpPr>
            <a:spLocks noGrp="1"/>
          </p:cNvSpPr>
          <p:nvPr>
            <p:ph idx="1"/>
          </p:nvPr>
        </p:nvSpPr>
        <p:spPr>
          <a:xfrm>
            <a:off x="838200" y="614854"/>
            <a:ext cx="10515600" cy="6101255"/>
          </a:xfrm>
        </p:spPr>
        <p:txBody>
          <a:bodyPr>
            <a:normAutofit fontScale="62500" lnSpcReduction="20000"/>
          </a:bodyPr>
          <a:lstStyle/>
          <a:p>
            <a:pPr marL="0" indent="0">
              <a:buNone/>
            </a:pPr>
            <a:r>
              <a:rPr lang="en-US" u="sng" dirty="0"/>
              <a:t>Applications of 5G</a:t>
            </a:r>
          </a:p>
          <a:p>
            <a:pPr marL="0" indent="0">
              <a:buNone/>
            </a:pPr>
            <a:r>
              <a:rPr lang="en-US" dirty="0"/>
              <a:t>Smart cities</a:t>
            </a:r>
          </a:p>
          <a:p>
            <a:pPr marL="0" indent="0">
              <a:buNone/>
            </a:pPr>
            <a:r>
              <a:rPr lang="en-US" dirty="0"/>
              <a:t>Autonomous vehicles</a:t>
            </a:r>
          </a:p>
          <a:p>
            <a:pPr marL="0" indent="0">
              <a:buNone/>
            </a:pPr>
            <a:r>
              <a:rPr lang="en-US" dirty="0"/>
              <a:t>Telemedicine</a:t>
            </a:r>
          </a:p>
          <a:p>
            <a:pPr marL="0" indent="0">
              <a:buNone/>
            </a:pPr>
            <a:r>
              <a:rPr lang="en-US" dirty="0"/>
              <a:t>Industrial automation</a:t>
            </a:r>
          </a:p>
          <a:p>
            <a:pPr marL="0" indent="0">
              <a:buNone/>
            </a:pPr>
            <a:r>
              <a:rPr lang="en-US" dirty="0"/>
              <a:t>Smart agriculture</a:t>
            </a:r>
          </a:p>
          <a:p>
            <a:pPr marL="0" indent="0">
              <a:buNone/>
            </a:pPr>
            <a:r>
              <a:rPr lang="en-US" dirty="0"/>
              <a:t>Virtual reality and online gaming</a:t>
            </a:r>
          </a:p>
          <a:p>
            <a:pPr marL="0" indent="0">
              <a:buNone/>
            </a:pPr>
            <a:r>
              <a:rPr lang="en-US" u="sng" dirty="0"/>
              <a:t>Advantages</a:t>
            </a:r>
          </a:p>
          <a:p>
            <a:pPr marL="0" indent="0">
              <a:buNone/>
            </a:pPr>
            <a:r>
              <a:rPr lang="en-US" dirty="0"/>
              <a:t>Faster speeds</a:t>
            </a:r>
          </a:p>
          <a:p>
            <a:pPr marL="0" indent="0">
              <a:buNone/>
            </a:pPr>
            <a:r>
              <a:rPr lang="en-US" dirty="0"/>
              <a:t>Lower delay</a:t>
            </a:r>
          </a:p>
          <a:p>
            <a:pPr marL="0" indent="0">
              <a:buNone/>
            </a:pPr>
            <a:r>
              <a:rPr lang="en-US" dirty="0"/>
              <a:t>Supports future technologies</a:t>
            </a:r>
          </a:p>
          <a:p>
            <a:pPr marL="0" indent="0">
              <a:buNone/>
            </a:pPr>
            <a:r>
              <a:rPr lang="en-US" dirty="0"/>
              <a:t>Better network efficiency</a:t>
            </a:r>
          </a:p>
          <a:p>
            <a:pPr marL="0" indent="0">
              <a:buNone/>
            </a:pPr>
            <a:r>
              <a:rPr lang="en-US" u="sng" dirty="0"/>
              <a:t>Challenges</a:t>
            </a:r>
          </a:p>
          <a:p>
            <a:pPr marL="0" indent="0">
              <a:buNone/>
            </a:pPr>
            <a:r>
              <a:rPr lang="en-US" dirty="0"/>
              <a:t>High deployment cost</a:t>
            </a:r>
          </a:p>
          <a:p>
            <a:pPr marL="0" indent="0">
              <a:buNone/>
            </a:pPr>
            <a:r>
              <a:rPr lang="en-US" dirty="0"/>
              <a:t>Limited mm Wave coverage</a:t>
            </a:r>
          </a:p>
          <a:p>
            <a:pPr marL="0" indent="0">
              <a:buNone/>
            </a:pPr>
            <a:r>
              <a:rPr lang="en-US" dirty="0"/>
              <a:t>Security and privacy issues</a:t>
            </a:r>
          </a:p>
          <a:p>
            <a:pPr marL="0" indent="0">
              <a:buNone/>
            </a:pPr>
            <a:r>
              <a:rPr lang="en-US" dirty="0"/>
              <a:t>-5G is a major advancement in wireless communication that enables a highly connected and intelligent world. With its speed, low latency, and massive connectivity, it forms the foundation for future digital technologies and next-generation networks.</a:t>
            </a:r>
            <a:endParaRPr lang="en-GB" dirty="0"/>
          </a:p>
        </p:txBody>
      </p:sp>
    </p:spTree>
    <p:extLst>
      <p:ext uri="{BB962C8B-B14F-4D97-AF65-F5344CB8AC3E}">
        <p14:creationId xmlns:p14="http://schemas.microsoft.com/office/powerpoint/2010/main" val="33860819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915FBD-CBB9-0405-13E8-62C2DA54ACA5}"/>
              </a:ext>
            </a:extLst>
          </p:cNvPr>
          <p:cNvSpPr>
            <a:spLocks noGrp="1"/>
          </p:cNvSpPr>
          <p:nvPr>
            <p:ph type="title"/>
          </p:nvPr>
        </p:nvSpPr>
        <p:spPr/>
        <p:txBody>
          <a:bodyPr/>
          <a:lstStyle/>
          <a:p>
            <a:r>
              <a:rPr lang="en-US" dirty="0"/>
              <a:t>6G- The Intelligence Era (2030s and Beyond)</a:t>
            </a:r>
            <a:endParaRPr lang="en-GB" dirty="0"/>
          </a:p>
        </p:txBody>
      </p:sp>
      <p:sp>
        <p:nvSpPr>
          <p:cNvPr id="3" name="Content Placeholder 2">
            <a:extLst>
              <a:ext uri="{FF2B5EF4-FFF2-40B4-BE49-F238E27FC236}">
                <a16:creationId xmlns:a16="http://schemas.microsoft.com/office/drawing/2014/main" xmlns="" id="{B172C840-9D3A-8576-1FF7-A87020657897}"/>
              </a:ext>
            </a:extLst>
          </p:cNvPr>
          <p:cNvSpPr>
            <a:spLocks noGrp="1"/>
          </p:cNvSpPr>
          <p:nvPr>
            <p:ph idx="1"/>
          </p:nvPr>
        </p:nvSpPr>
        <p:spPr/>
        <p:txBody>
          <a:bodyPr/>
          <a:lstStyle/>
          <a:p>
            <a:r>
              <a:rPr lang="en-US" dirty="0"/>
              <a:t>This is the sixth generation of wireless technology, a successor to 5G.</a:t>
            </a:r>
          </a:p>
          <a:p>
            <a:r>
              <a:rPr lang="en-US" dirty="0"/>
              <a:t>6G is being developed to connect the physical, digital and human worlds.</a:t>
            </a:r>
          </a:p>
          <a:p>
            <a:r>
              <a:rPr lang="en-US" dirty="0"/>
              <a:t>Expected to be commercially available around 2030.</a:t>
            </a:r>
            <a:endParaRPr lang="en-GB" dirty="0"/>
          </a:p>
        </p:txBody>
      </p:sp>
    </p:spTree>
    <p:extLst>
      <p:ext uri="{BB962C8B-B14F-4D97-AF65-F5344CB8AC3E}">
        <p14:creationId xmlns:p14="http://schemas.microsoft.com/office/powerpoint/2010/main" val="18294945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34776AC-2C68-3801-093C-2B0D1BAE6BDC}"/>
              </a:ext>
            </a:extLst>
          </p:cNvPr>
          <p:cNvSpPr>
            <a:spLocks noGrp="1"/>
          </p:cNvSpPr>
          <p:nvPr>
            <p:ph idx="1"/>
          </p:nvPr>
        </p:nvSpPr>
        <p:spPr/>
        <p:txBody>
          <a:bodyPr>
            <a:normAutofit fontScale="85000" lnSpcReduction="20000"/>
          </a:bodyPr>
          <a:lstStyle/>
          <a:p>
            <a:pPr marL="0" indent="0">
              <a:buNone/>
            </a:pPr>
            <a:r>
              <a:rPr lang="en-US" dirty="0"/>
              <a:t>Tec</a:t>
            </a:r>
            <a:r>
              <a:rPr lang="en-US" u="sng" dirty="0"/>
              <a:t>hnology and characteristics</a:t>
            </a:r>
          </a:p>
          <a:p>
            <a:pPr marL="0" indent="0">
              <a:buNone/>
            </a:pPr>
            <a:r>
              <a:rPr lang="en-US" dirty="0"/>
              <a:t>6G will utilize several  technologies:</a:t>
            </a:r>
          </a:p>
          <a:p>
            <a:pPr marL="514350" indent="-514350">
              <a:buAutoNum type="arabicPeriod"/>
            </a:pPr>
            <a:r>
              <a:rPr lang="en-US" dirty="0"/>
              <a:t>Terahertz (THz) Frequencies: 6G will operate at frequencies from 100 GHz to 10 THz, offering massive bandwidth and unprecedented data transfer speeds.</a:t>
            </a:r>
          </a:p>
          <a:p>
            <a:pPr marL="514350" indent="-514350">
              <a:buAutoNum type="arabicPeriod"/>
            </a:pPr>
            <a:r>
              <a:rPr lang="en-US" dirty="0"/>
              <a:t>2. AI-Native Architecture: Artificial Intelligence will be the "brain" of the network, managing THz waves, fixing signal drops, and optimizing energy use in real-time.</a:t>
            </a:r>
          </a:p>
          <a:p>
            <a:pPr marL="514350" indent="-514350">
              <a:buAutoNum type="arabicPeriod"/>
            </a:pPr>
            <a:r>
              <a:rPr lang="en-US" dirty="0"/>
              <a:t>3. Cell-Free Networking: Devices will connect to multiple small sensors simultaneously, providing a "follow-me" bubble of high-speed connectivity.</a:t>
            </a:r>
          </a:p>
          <a:p>
            <a:pPr marL="514350" indent="-514350">
              <a:buAutoNum type="arabicPeriod"/>
            </a:pPr>
            <a:r>
              <a:rPr lang="en-US" dirty="0"/>
              <a:t>4. Extreme Low Latency: 6G aims for latency below 0.1 ms, critical for "synchronous" communication.</a:t>
            </a:r>
            <a:endParaRPr lang="en-GB" dirty="0"/>
          </a:p>
        </p:txBody>
      </p:sp>
    </p:spTree>
    <p:extLst>
      <p:ext uri="{BB962C8B-B14F-4D97-AF65-F5344CB8AC3E}">
        <p14:creationId xmlns:p14="http://schemas.microsoft.com/office/powerpoint/2010/main" val="3959815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7CFFD92-5ABB-13A6-44C6-717E7F7A9E32}"/>
              </a:ext>
            </a:extLst>
          </p:cNvPr>
          <p:cNvSpPr>
            <a:spLocks noGrp="1"/>
          </p:cNvSpPr>
          <p:nvPr>
            <p:ph idx="1"/>
          </p:nvPr>
        </p:nvSpPr>
        <p:spPr/>
        <p:txBody>
          <a:bodyPr>
            <a:normAutofit fontScale="62500" lnSpcReduction="20000"/>
          </a:bodyPr>
          <a:lstStyle/>
          <a:p>
            <a:r>
              <a:rPr lang="en-US" u="sng" dirty="0"/>
              <a:t>Capabilities of 6G </a:t>
            </a:r>
          </a:p>
          <a:p>
            <a:r>
              <a:rPr lang="en-US" dirty="0"/>
              <a:t>It will enable:</a:t>
            </a:r>
          </a:p>
          <a:p>
            <a:pPr marL="514350" indent="-514350">
              <a:buAutoNum type="arabicPeriod"/>
            </a:pPr>
            <a:r>
              <a:rPr lang="en-US" dirty="0"/>
              <a:t>Holographic Telepresence: Transmitting high-fidelity 3D holograms of people, allowing for virtual presence in real-time.</a:t>
            </a:r>
          </a:p>
          <a:p>
            <a:pPr marL="514350" indent="-514350">
              <a:buAutoNum type="arabicPeriod"/>
            </a:pPr>
            <a:r>
              <a:rPr lang="en-US" dirty="0"/>
              <a:t>2. The Internet of Senses: Supporting haptic communication, transmitting textures, resistance, smells, and tastes via neural interfaces.</a:t>
            </a:r>
          </a:p>
          <a:p>
            <a:pPr marL="514350" indent="-514350">
              <a:buAutoNum type="arabicPeriod"/>
            </a:pPr>
            <a:r>
              <a:rPr lang="en-US" dirty="0"/>
              <a:t>3. Digital Twins: Creating real-time digital replicas of humans, factories, or cities, predicting health issues or traffic accidents.</a:t>
            </a:r>
          </a:p>
          <a:p>
            <a:pPr marL="514350" indent="-514350">
              <a:buAutoNum type="arabicPeriod"/>
            </a:pPr>
            <a:r>
              <a:rPr lang="en-US" dirty="0"/>
              <a:t>4. Centimeter-Level Sensing: The network acts as a radar, detecting object locations and shapes without cameras, protecting privacy while ensuring safety . Networking Insight: Global Coverage6G aims for universal connectivity through:1. Space-Air-Ground Integration: Integrating terrestrial towers with LEO satellites and high-altitude drones, ensuring 100% global coverage</a:t>
            </a:r>
            <a:endParaRPr lang="en-GB" dirty="0"/>
          </a:p>
        </p:txBody>
      </p:sp>
    </p:spTree>
    <p:extLst>
      <p:ext uri="{BB962C8B-B14F-4D97-AF65-F5344CB8AC3E}">
        <p14:creationId xmlns:p14="http://schemas.microsoft.com/office/powerpoint/2010/main" val="1822853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EB18858-30FB-D6E0-7161-7263EB4512F8}"/>
              </a:ext>
            </a:extLst>
          </p:cNvPr>
          <p:cNvSpPr>
            <a:spLocks noGrp="1"/>
          </p:cNvSpPr>
          <p:nvPr>
            <p:ph idx="1"/>
          </p:nvPr>
        </p:nvSpPr>
        <p:spPr/>
        <p:txBody>
          <a:bodyPr>
            <a:normAutofit fontScale="70000" lnSpcReduction="20000"/>
          </a:bodyPr>
          <a:lstStyle/>
          <a:p>
            <a:pPr marL="0" indent="0">
              <a:buNone/>
            </a:pPr>
            <a:r>
              <a:rPr lang="en-US" u="sng" dirty="0"/>
              <a:t>5G vs 6G </a:t>
            </a:r>
          </a:p>
          <a:p>
            <a:pPr marL="0" indent="0">
              <a:buNone/>
            </a:pPr>
            <a:r>
              <a:rPr lang="en-US" u="sng" dirty="0"/>
              <a:t>Speed:</a:t>
            </a:r>
          </a:p>
          <a:p>
            <a:pPr marL="0" indent="0">
              <a:buNone/>
            </a:pPr>
            <a:r>
              <a:rPr lang="en-US" u="sng" dirty="0"/>
              <a:t> </a:t>
            </a:r>
            <a:r>
              <a:rPr lang="en-US" dirty="0"/>
              <a:t>6G blows 5G out of the water with data rates shooting up to 1 Tbps - that's like 50 times faster.</a:t>
            </a:r>
          </a:p>
          <a:p>
            <a:pPr marL="0" indent="0">
              <a:buNone/>
            </a:pPr>
            <a:r>
              <a:rPr lang="en-US" u="sng" dirty="0"/>
              <a:t>Latency: </a:t>
            </a:r>
          </a:p>
          <a:p>
            <a:pPr marL="0" indent="0">
              <a:buNone/>
            </a:pPr>
            <a:r>
              <a:rPr lang="en-US" dirty="0"/>
              <a:t>6G's got it down to under 0.1 ms. Like, almost instant .</a:t>
            </a:r>
          </a:p>
          <a:p>
            <a:pPr marL="0" indent="0">
              <a:buNone/>
            </a:pPr>
            <a:r>
              <a:rPr lang="en-US" dirty="0"/>
              <a:t>Connectivity: </a:t>
            </a:r>
          </a:p>
          <a:p>
            <a:pPr marL="0" indent="0">
              <a:buNone/>
            </a:pPr>
            <a:r>
              <a:rPr lang="en-US" dirty="0"/>
              <a:t>While 5G connects things, 6G connects everything - physical, digital, human worlds.</a:t>
            </a:r>
          </a:p>
          <a:p>
            <a:pPr marL="0" indent="0">
              <a:buNone/>
            </a:pPr>
            <a:r>
              <a:rPr lang="en-US" u="sng" dirty="0"/>
              <a:t>Coverage: </a:t>
            </a:r>
          </a:p>
          <a:p>
            <a:pPr marL="0" indent="0">
              <a:buNone/>
            </a:pPr>
            <a:r>
              <a:rPr lang="en-US" u="sng" dirty="0"/>
              <a:t>6</a:t>
            </a:r>
            <a:r>
              <a:rPr lang="en-US" dirty="0"/>
              <a:t>G's going to blanket the globe, integrating space, air, and ground networks. No more dead zones .And with 6G, you get wild stuff like holographic calls, feeling textures over the network</a:t>
            </a:r>
          </a:p>
        </p:txBody>
      </p:sp>
    </p:spTree>
    <p:extLst>
      <p:ext uri="{BB962C8B-B14F-4D97-AF65-F5344CB8AC3E}">
        <p14:creationId xmlns:p14="http://schemas.microsoft.com/office/powerpoint/2010/main" val="4322574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FFEC692-36EB-1B1E-270D-8D302F9E5EC1}"/>
              </a:ext>
            </a:extLst>
          </p:cNvPr>
          <p:cNvSpPr>
            <a:spLocks noGrp="1"/>
          </p:cNvSpPr>
          <p:nvPr>
            <p:ph type="title"/>
          </p:nvPr>
        </p:nvSpPr>
        <p:spPr/>
        <p:txBody>
          <a:bodyPr/>
          <a:lstStyle/>
          <a:p>
            <a:r>
              <a:rPr lang="en-US" dirty="0"/>
              <a:t>Conclusion</a:t>
            </a:r>
            <a:endParaRPr lang="en-GB" dirty="0"/>
          </a:p>
        </p:txBody>
      </p:sp>
      <p:sp>
        <p:nvSpPr>
          <p:cNvPr id="3" name="Content Placeholder 2">
            <a:extLst>
              <a:ext uri="{FF2B5EF4-FFF2-40B4-BE49-F238E27FC236}">
                <a16:creationId xmlns:a16="http://schemas.microsoft.com/office/drawing/2014/main" xmlns="" id="{9A980D8B-615A-9498-BE35-28609892C1B8}"/>
              </a:ext>
            </a:extLst>
          </p:cNvPr>
          <p:cNvSpPr>
            <a:spLocks noGrp="1"/>
          </p:cNvSpPr>
          <p:nvPr>
            <p:ph idx="1"/>
          </p:nvPr>
        </p:nvSpPr>
        <p:spPr/>
        <p:txBody>
          <a:bodyPr>
            <a:normAutofit fontScale="77500" lnSpcReduction="20000"/>
          </a:bodyPr>
          <a:lstStyle/>
          <a:p>
            <a:r>
              <a:rPr lang="en-US" dirty="0"/>
              <a:t>​The Foundation (1G &amp; 2G): We began by simply trying to untether ourselves from the wall. We moved from Analog Voice to Digital Text, making communication portable and private for the first time.</a:t>
            </a:r>
          </a:p>
          <a:p>
            <a:r>
              <a:rPr lang="en-US" dirty="0"/>
              <a:t>​The Content Revolution (3G &amp; 4G): This was the era where the 'Phone' died and the 'Smartphone' was born. We shifted from talking to consuming. We brought the entire internet into our pockets, enabling the streaming, social media, and gig economy we live in today.​</a:t>
            </a:r>
          </a:p>
          <a:p>
            <a:r>
              <a:rPr lang="en-US" dirty="0"/>
              <a:t>The Connectivity Leap (5G &amp; 6G): We are now moving beyond the screen. 5G is about connecting the world around us—our cars, our cities, and our industries. Looking toward 6G, we are entering the 'Intelligence Era,' where the line between the physical and digital worlds will disappear through holograms, AI-native networks, and total global connectivity.</a:t>
            </a:r>
            <a:endParaRPr lang="en-GB" dirty="0"/>
          </a:p>
        </p:txBody>
      </p:sp>
    </p:spTree>
    <p:extLst>
      <p:ext uri="{BB962C8B-B14F-4D97-AF65-F5344CB8AC3E}">
        <p14:creationId xmlns:p14="http://schemas.microsoft.com/office/powerpoint/2010/main" val="11858426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195</TotalTime>
  <Words>1672</Words>
  <Application>Microsoft Office PowerPoint</Application>
  <PresentationFormat>Widescreen</PresentationFormat>
  <Paragraphs>152</Paragraphs>
  <Slides>22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Aptos Display</vt:lpstr>
      <vt:lpstr>Arial</vt:lpstr>
      <vt:lpstr>Calibri</vt:lpstr>
      <vt:lpstr>Office Theme</vt:lpstr>
      <vt:lpstr>WIRELESS TECHNOLOGY EVOLUTION</vt:lpstr>
      <vt:lpstr>Introduction</vt:lpstr>
      <vt:lpstr>1G- The Analog Voice Era (1980s)</vt:lpstr>
      <vt:lpstr>PowerPoint Presentation</vt:lpstr>
      <vt:lpstr>PowerPoint Presentation</vt:lpstr>
      <vt:lpstr>PowerPoint Presentation</vt:lpstr>
      <vt:lpstr>PowerPoint Presentation</vt:lpstr>
      <vt:lpstr>2G-The digital Revolution(1990s)</vt:lpstr>
      <vt:lpstr>4G – The Broadband Era (2010s) </vt:lpstr>
      <vt:lpstr> </vt:lpstr>
      <vt:lpstr> </vt:lpstr>
      <vt:lpstr> </vt:lpstr>
      <vt:lpstr> </vt:lpstr>
      <vt:lpstr>5G-Wireless Technology</vt:lpstr>
      <vt:lpstr>PowerPoint Presentation</vt:lpstr>
      <vt:lpstr>PowerPoint Presentation</vt:lpstr>
      <vt:lpstr>PowerPoint Presentation</vt:lpstr>
      <vt:lpstr>6G- The Intelligence Era (2030s and Beyond)</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WIRELESS TECHNOLOGY EVOLUTION</dc:title>
  <dc:creator>Elsy Barbra</dc:creator>
  <cp:lastModifiedBy>leona nyasani</cp:lastModifiedBy>
  <cp:revision>17</cp:revision>
  <dcterms:created xsi:type="dcterms:W3CDTF">2026-01-05T06:52:43Z</dcterms:created>
  <dcterms:modified xsi:type="dcterms:W3CDTF">2026-01-12T07:42:28Z</dcterms:modified>
</cp:coreProperties>
</file>